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a12c94-d23b-8aa1-b6dd-8152259049a7}">
          <p14:sldIdLst>
            <p14:sldId id="256"/>
          </p14:sldIdLst>
        </p14:section>
        <p14:section name="The problem" id="{52cb1ded-3568-c2ba-f14a-afc81fbcadab}">
          <p14:sldIdLst>
            <p14:sldId id="257"/>
            <p14:sldId id="258"/>
            <p14:sldId id="259"/>
          </p14:sldIdLst>
        </p14:section>
        <p14:section name="The solution" id="{91c86e83-b170-5f13-620b-e43edb7ddc8f}">
          <p14:sldIdLst>
            <p14:sldId id="260"/>
            <p14:sldId id="261"/>
            <p14:sldId id="262"/>
            <p14:sldId id="263"/>
          </p14:sldIdLst>
        </p14:section>
        <p14:section name="Trust and build" id="{d5fec9e9-5461-bf62-541b-0e42c242b0e4}">
          <p14:sldIdLst>
            <p14:sldId id="264"/>
            <p14:sldId id="265"/>
          </p14:sldIdLst>
        </p14:section>
        <p14:section name="Close" id="{27c749c1-dee6-f604-6031-9b044bc1795f}">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AttackGraph AI checks a cloud permission change before it ships. It shows what new access the change creates, explains it with Amazon Bedrock, and tests a fix. Everything here uses synthetic data. Visitors can scan the code to open the live demo on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changes one permission from false to true. In code review it is a one-word edit. The danger is not in the line itself, but in what it connects to: here it lets the build pipeline act as an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 deploy user is the build pipeline. The change lets it pass the deployment admin role to a Lambda function it already creates, invokes and controls. That function then runs as the admin role. iam:PassRole is the permission to hand a role to an AWS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needs seven conditions, all at once. Six were already true before the pull request, and each looks harmless on its own. The pull request flips the seventh. PassRole alone is not enough, which is exactly why a line-by-line review misses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compares the current and proposed configuration. Step two finds every new route to a protected role or sensitive data. Step three uses Amazon Bedrock to explain the route in plain English. Step four tests the fix: it removes the new permission on a copy and reruns the whole analysis. The pull request then fails on the line that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runs as a GitHub Actions check on every pull request. In the demo, line 27 of the snapshot flips PassRole from false to true. The check fails with exit status 1 and leaves a note on that exact line with the route and the suggested fix. Apply the fix and the same check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AWS AI part. The deterministic engine decides the finding and tests the fix. Amazon Nova Pro on Amazon Bedrock turns that evidence into a plain-English explanation. It only sees placeholder IDs, it cannot add findings or fixes, and any reply that cites something outside the evidence is rejected. The reply on screen is a real one recorded on 30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revokes only the new grant on a copy of the proposal and reruns everything. The route closes: high-risk paths go from 1 to 0. The two expected-access checks, reading build artifacts and using the app runtime role, still pass. We say verified in this model, because we tested the model, not a real AWS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fact is unknown, not safe, so an incomplete result fails the check. The prototype reads synthetic snapshots only and never connects to or changes an AWS account. The AI explains but cannot add findings, change severity or invent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Snapshots go into a Python engine that validates them, evaluates two rule families and finds the shortest route with NetworkX, then simulates each fix. Amazon Nova Pro on Amazon Bedrock is called through the Converse API only for the explanation. Outputs: a GitHub Actions check, a Streamlit app, the static demo on Vercel and a Markdown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runs the real engine on the bundled scenarios, with no sign-up. The video is a two-and-a-half-minute walkthrough. Next steps: read Terraform plans and real IAM policies instead of hand-written snapshots, evaluate policy controls, and add more rule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_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3" name="Image 0" descr="AttackGraph AI">    </p:cNvPr>
          <p:cNvPicPr>
            <a:picLocks noChangeAspect="1"/>
          </p:cNvPicPr>
          <p:nvPr/>
        </p:nvPicPr>
        <p:blipFill>
          <a:blip r:embed="rId1"/>
          <a:stretch>
            <a:fillRect/>
          </a:stretch>
        </p:blipFill>
        <p:spPr>
          <a:xfrm>
            <a:off x="548640" y="6373368"/>
            <a:ext cx="1508760" cy="256032"/>
          </a:xfrm>
          <a:prstGeom prst="rect">
            <a:avLst/>
          </a:prstGeom>
        </p:spPr>
      </p:pic>
      <p:sp>
        <p:nvSpPr>
          <p:cNvPr id="4" name="Text 0"/>
          <p:cNvSpPr/>
          <p:nvPr/>
        </p:nvSpPr>
        <p:spPr>
          <a:xfrm>
            <a:off x="7068312" y="6345936"/>
            <a:ext cx="4572000" cy="310896"/>
          </a:xfrm>
          <a:prstGeom prst="rect">
            <a:avLst/>
          </a:prstGeom>
          <a:noFill/>
          <a:ln/>
        </p:spPr>
        <p:txBody>
          <a:bodyPr wrap="square" lIns="0" tIns="0" rIns="0" bIns="0" rtlCol="0" anchor="ctr"/>
          <a:lstStyle/>
          <a:p>
            <a:pPr algn="r" indent="0" marL="0">
              <a:buNone/>
            </a:pPr>
            <a:r>
              <a:rPr lang="en-US" sz="1200" dirty="0">
                <a:solidFill>
                  <a:schemeClr val="accent6"/>
                </a:solidFill>
              </a:rPr>
              <a:t>Try it: attackgraph-ai.vercel.app/demo</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132320" cy="2057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pic>
        <p:nvPicPr>
          <p:cNvPr id="3" name="Image 0" descr="AttackGraph AI">    </p:cNvPr>
          <p:cNvPicPr>
            <a:picLocks noChangeAspect="1"/>
          </p:cNvPicPr>
          <p:nvPr/>
        </p:nvPicPr>
        <p:blipFill>
          <a:blip r:embed="rId1"/>
          <a:stretch>
            <a:fillRect/>
          </a:stretch>
        </p:blipFill>
        <p:spPr>
          <a:xfrm>
            <a:off x="640080" y="640080"/>
            <a:ext cx="2157984" cy="365760"/>
          </a:xfrm>
          <a:prstGeom prst="rect">
            <a:avLst/>
          </a:prstGeom>
        </p:spPr>
      </p:pic>
      <p:sp>
        <p:nvSpPr>
          <p:cNvPr id="4" name="Text 0"/>
          <p:cNvSpPr/>
          <p:nvPr/>
        </p:nvSpPr>
        <p:spPr>
          <a:xfrm>
            <a:off x="640080" y="6263640"/>
            <a:ext cx="5486400" cy="310896"/>
          </a:xfrm>
          <a:prstGeom prst="rect">
            <a:avLst/>
          </a:prstGeom>
          <a:noFill/>
          <a:ln/>
        </p:spPr>
        <p:txBody>
          <a:bodyPr wrap="square" lIns="0" tIns="0" rIns="0" bIns="0" rtlCol="0" anchor="ctr"/>
          <a:lstStyle/>
          <a:p>
            <a:pPr indent="0" marL="0">
              <a:buNone/>
            </a:pPr>
            <a:r>
              <a:rPr lang="en-US" sz="1200" dirty="0">
                <a:solidFill>
                  <a:srgbClr val="B9B9C9"/>
                </a:solidFill>
              </a:rPr>
              <a:t>AWS AI Fest 2026  ·  Singapore</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132320" cy="2057400"/>
          </a:xfrm>
          <a:prstGeom prst="rect">
            <a:avLst/>
          </a:prstGeom>
          <a:noFill/>
          <a:ln/>
        </p:spPr>
        <p:txBody>
          <a:bodyPr wrap="square" lIns="0" tIns="0" rIns="0" bIns="0" rtlCol="0" anchor="t"/>
          <a:lstStyle/>
          <a:p>
            <a:pPr algn="l" indent="0" marL="0">
              <a:buNone/>
            </a:pPr>
            <a:r>
              <a:rPr lang="en-US" sz="4000" b="1" dirty="0">
                <a:solidFill>
                  <a:schemeClr val="bg1"/>
                </a:solidFill>
              </a:rPr>
              <a:t>See what a cloud permission change unlocks, before you deploy it</a:t>
            </a:r>
            <a:endParaRPr lang="en-US" sz="4000" dirty="0"/>
          </a:p>
        </p:txBody>
      </p:sp>
      <p:sp>
        <p:nvSpPr>
          <p:cNvPr id="3" name="Subtitle"/>
          <p:cNvSpPr txBox="1"/>
          <p:nvPr/>
        </p:nvSpPr>
        <p:spPr>
          <a:xfrm>
            <a:off x="640080" y="3749040"/>
            <a:ext cx="6675120" cy="960120"/>
          </a:xfrm>
          <a:prstGeom prst="rect">
            <a:avLst/>
          </a:prstGeom>
          <a:noFill/>
          <a:ln/>
        </p:spPr>
        <p:txBody>
          <a:bodyPr wrap="square" lIns="0" tIns="0" rIns="0" bIns="0" rtlCol="0" anchor="t"/>
          <a:lstStyle/>
          <a:p>
            <a:pPr indent="0" marL="0">
              <a:buNone/>
            </a:pPr>
            <a:r>
              <a:rPr lang="en-US" sz="2000" dirty="0">
                <a:solidFill>
                  <a:srgbClr val="B9B9C9"/>
                </a:solidFill>
              </a:rPr>
              <a:t>AttackGraph AI checks a pull request for new routes to admin access, explains them with Amazon Bedrock, and tests the fix.</a:t>
            </a:r>
            <a:endParaRPr lang="en-US" sz="2000" dirty="0"/>
          </a:p>
        </p:txBody>
      </p:sp>
      <p:sp>
        <p:nvSpPr>
          <p:cNvPr id="4" name="Chip: Pull-request check"/>
          <p:cNvSpPr/>
          <p:nvPr/>
        </p:nvSpPr>
        <p:spPr>
          <a:xfrm>
            <a:off x="640080" y="5029200"/>
            <a:ext cx="2103120" cy="384048"/>
          </a:xfrm>
          <a:prstGeom prst="roundRect">
            <a:avLst>
              <a:gd name="adj" fmla="val 50000"/>
            </a:avLst>
          </a:prstGeom>
          <a:solidFill>
            <a:srgbClr val="1E1E27"/>
          </a:solidFill>
          <a:ln w="12700">
            <a:solidFill>
              <a:srgbClr val="3A3A48"/>
            </a:solidFill>
          </a:ln>
        </p:spPr>
        <p:txBody>
          <a:bodyPr wrap="square" lIns="0" tIns="0" rIns="0" bIns="0" rtlCol="0" anchor="ctr"/>
          <a:lstStyle/>
          <a:p>
            <a:pPr algn="ctr" indent="0" marL="0">
              <a:buNone/>
            </a:pPr>
            <a:r>
              <a:rPr lang="en-US" sz="1400" b="1" dirty="0">
                <a:solidFill>
                  <a:srgbClr val="FFFFFF"/>
                </a:solidFill>
              </a:rPr>
              <a:t>Pull-request check</a:t>
            </a:r>
            <a:endParaRPr lang="en-US" sz="1400" dirty="0"/>
          </a:p>
        </p:txBody>
      </p:sp>
      <p:sp>
        <p:nvSpPr>
          <p:cNvPr id="5" name="Chip: Amazon Bedrock"/>
          <p:cNvSpPr/>
          <p:nvPr/>
        </p:nvSpPr>
        <p:spPr>
          <a:xfrm>
            <a:off x="2880360" y="5029200"/>
            <a:ext cx="1874520" cy="384048"/>
          </a:xfrm>
          <a:prstGeom prst="roundRect">
            <a:avLst>
              <a:gd name="adj" fmla="val 50000"/>
            </a:avLst>
          </a:prstGeom>
          <a:solidFill>
            <a:srgbClr val="1E1E27"/>
          </a:solidFill>
          <a:ln w="12700">
            <a:solidFill>
              <a:srgbClr val="3A3A48"/>
            </a:solidFill>
          </a:ln>
        </p:spPr>
        <p:txBody>
          <a:bodyPr wrap="square" lIns="0" tIns="0" rIns="0" bIns="0" rtlCol="0" anchor="ctr"/>
          <a:lstStyle/>
          <a:p>
            <a:pPr algn="ctr" indent="0" marL="0">
              <a:buNone/>
            </a:pPr>
            <a:r>
              <a:rPr lang="en-US" sz="1400" b="1" dirty="0">
                <a:solidFill>
                  <a:srgbClr val="FFFFFF"/>
                </a:solidFill>
              </a:rPr>
              <a:t>Amazon Bedrock</a:t>
            </a:r>
            <a:endParaRPr lang="en-US" sz="1400" dirty="0"/>
          </a:p>
        </p:txBody>
      </p:sp>
      <p:sp>
        <p:nvSpPr>
          <p:cNvPr id="6" name="Chip: Synthetic data only"/>
          <p:cNvSpPr/>
          <p:nvPr/>
        </p:nvSpPr>
        <p:spPr>
          <a:xfrm>
            <a:off x="4892040" y="5029200"/>
            <a:ext cx="2148840" cy="384048"/>
          </a:xfrm>
          <a:prstGeom prst="roundRect">
            <a:avLst>
              <a:gd name="adj" fmla="val 50000"/>
            </a:avLst>
          </a:prstGeom>
          <a:solidFill>
            <a:srgbClr val="1E1E27"/>
          </a:solidFill>
          <a:ln w="12700">
            <a:solidFill>
              <a:srgbClr val="3A3A48"/>
            </a:solidFill>
          </a:ln>
        </p:spPr>
        <p:txBody>
          <a:bodyPr wrap="square" lIns="0" tIns="0" rIns="0" bIns="0" rtlCol="0" anchor="ctr"/>
          <a:lstStyle/>
          <a:p>
            <a:pPr algn="ctr" indent="0" marL="0">
              <a:buNone/>
            </a:pPr>
            <a:r>
              <a:rPr lang="en-US" sz="1400" b="1" dirty="0">
                <a:solidFill>
                  <a:srgbClr val="FFFFFF"/>
                </a:solidFill>
              </a:rPr>
              <a:t>Synthetic data only</a:t>
            </a:r>
            <a:endParaRPr lang="en-US" sz="1400" dirty="0"/>
          </a:p>
        </p:txBody>
      </p:sp>
      <p:sp>
        <p:nvSpPr>
          <p:cNvPr id="7" name="QR card"/>
          <p:cNvSpPr/>
          <p:nvPr/>
        </p:nvSpPr>
        <p:spPr>
          <a:xfrm>
            <a:off x="8001000" y="1188720"/>
            <a:ext cx="3566160" cy="4343400"/>
          </a:xfrm>
          <a:prstGeom prst="roundRect">
            <a:avLst>
              <a:gd name="adj" fmla="val 5128"/>
            </a:avLst>
          </a:prstGeom>
          <a:solidFill>
            <a:schemeClr val="bg1"/>
          </a:solidFill>
          <a:ln w="9525">
            <a:solidFill>
              <a:srgbClr val="FFFFFF"/>
            </a:solidFill>
            <a:prstDash val="solid"/>
          </a:ln>
        </p:spPr>
      </p:sp>
      <p:pic>
        <p:nvPicPr>
          <p:cNvPr id="8" name="QR code" descr="QR code linking to https://attackgraph-ai.vercel.app/demo">    </p:cNvPr>
          <p:cNvPicPr>
            <a:picLocks noChangeAspect="1"/>
          </p:cNvPicPr>
          <p:nvPr/>
        </p:nvPicPr>
        <p:blipFill>
          <a:blip r:embed="rId1"/>
          <a:stretch>
            <a:fillRect/>
          </a:stretch>
        </p:blipFill>
        <p:spPr>
          <a:xfrm>
            <a:off x="8412480" y="1508760"/>
            <a:ext cx="2743200" cy="2743200"/>
          </a:xfrm>
          <a:prstGeom prst="rect">
            <a:avLst/>
          </a:prstGeom>
        </p:spPr>
      </p:pic>
      <p:sp>
        <p:nvSpPr>
          <p:cNvPr id="9" name="QR label"/>
          <p:cNvSpPr txBox="1"/>
          <p:nvPr/>
        </p:nvSpPr>
        <p:spPr>
          <a:xfrm>
            <a:off x="8001000" y="4407408"/>
            <a:ext cx="3566160" cy="384048"/>
          </a:xfrm>
          <a:prstGeom prst="rect">
            <a:avLst/>
          </a:prstGeom>
          <a:noFill/>
          <a:ln/>
        </p:spPr>
        <p:txBody>
          <a:bodyPr wrap="square" lIns="0" tIns="0" rIns="0" bIns="0" rtlCol="0" anchor="t"/>
          <a:lstStyle/>
          <a:p>
            <a:pPr algn="ctr" indent="0" marL="0">
              <a:buNone/>
            </a:pPr>
            <a:r>
              <a:rPr lang="en-US" sz="1900" b="1" dirty="0">
                <a:solidFill>
                  <a:schemeClr val="tx1"/>
                </a:solidFill>
              </a:rPr>
              <a:t>Scan to try the live demo</a:t>
            </a:r>
            <a:endParaRPr lang="en-US" sz="1900" dirty="0"/>
          </a:p>
        </p:txBody>
      </p:sp>
      <p:sp>
        <p:nvSpPr>
          <p:cNvPr id="10" name="QR URL"/>
          <p:cNvSpPr txBox="1"/>
          <p:nvPr/>
        </p:nvSpPr>
        <p:spPr>
          <a:xfrm>
            <a:off x="8001000" y="4846320"/>
            <a:ext cx="3566160" cy="329184"/>
          </a:xfrm>
          <a:prstGeom prst="rect">
            <a:avLst/>
          </a:prstGeom>
          <a:noFill/>
          <a:ln/>
        </p:spPr>
        <p:txBody>
          <a:bodyPr wrap="square" lIns="0" tIns="0" rIns="0" bIns="0" rtlCol="0" anchor="t"/>
          <a:lstStyle/>
          <a:p>
            <a:pPr algn="ctr" indent="0" marL="0">
              <a:buNone/>
            </a:pPr>
            <a:r>
              <a:rPr lang="en-US" sz="1400" dirty="0">
                <a:solidFill>
                  <a:schemeClr val="accent6"/>
                </a:solidFill>
              </a:rPr>
              <a:t>attackgraph-ai.vercel.app/demo</a:t>
            </a:r>
            <a:endParaRPr lang="en-US" sz="1400" dirty="0"/>
          </a:p>
        </p:txBody>
      </p:sp>
    </p:spTree>
  </p:cSld>
  <p:clrMapOvr>
    <a:masterClrMapping/>
  </p:clrMapOvr>
  <p:transition spd="med" advTm="9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The problem</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One tiny change can unlock admin access</a:t>
            </a:r>
            <a:endParaRPr lang="en-US" sz="3600" dirty="0"/>
          </a:p>
        </p:txBody>
      </p:sp>
      <p:sp>
        <p:nvSpPr>
          <p:cNvPr id="4" name="Diff card"/>
          <p:cNvSpPr/>
          <p:nvPr/>
        </p:nvSpPr>
        <p:spPr>
          <a:xfrm>
            <a:off x="548640" y="1874520"/>
            <a:ext cx="6126480" cy="3429000"/>
          </a:xfrm>
          <a:prstGeom prst="roundRect">
            <a:avLst>
              <a:gd name="adj" fmla="val 3733"/>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Text 3"/>
          <p:cNvSpPr txBox="1"/>
          <p:nvPr/>
        </p:nvSpPr>
        <p:spPr>
          <a:xfrm>
            <a:off x="822960" y="2057400"/>
            <a:ext cx="3657600" cy="329184"/>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snapshots/app-prod.json</a:t>
            </a:r>
            <a:endParaRPr lang="en-US" sz="1400" dirty="0"/>
          </a:p>
        </p:txBody>
      </p:sp>
      <p:sp>
        <p:nvSpPr>
          <p:cNvPr id="6" name="Text 4"/>
          <p:cNvSpPr txBox="1"/>
          <p:nvPr/>
        </p:nvSpPr>
        <p:spPr>
          <a:xfrm>
            <a:off x="4206240" y="2057400"/>
            <a:ext cx="2194560" cy="329184"/>
          </a:xfrm>
          <a:prstGeom prst="rect">
            <a:avLst/>
          </a:prstGeom>
          <a:noFill/>
          <a:ln/>
        </p:spPr>
        <p:txBody>
          <a:bodyPr wrap="square" lIns="0" tIns="0" rIns="0" bIns="0" rtlCol="0" anchor="ctr"/>
          <a:lstStyle/>
          <a:p>
            <a:pPr algn="r" indent="0" marL="0">
              <a:buNone/>
            </a:pPr>
            <a:r>
              <a:rPr lang="en-US" sz="1400" dirty="0">
                <a:solidFill>
                  <a:schemeClr val="accent6"/>
                </a:solidFill>
              </a:rPr>
              <a:t>1 line changed</a:t>
            </a:r>
            <a:endParaRPr lang="en-US" sz="1400" dirty="0"/>
          </a:p>
        </p:txBody>
      </p:sp>
      <p:sp>
        <p:nvSpPr>
          <p:cNvPr id="7" name="Diff header rule"/>
          <p:cNvSpPr/>
          <p:nvPr/>
        </p:nvSpPr>
        <p:spPr>
          <a:xfrm>
            <a:off x="548640" y="2560320"/>
            <a:ext cx="6126480" cy="0"/>
          </a:xfrm>
          <a:prstGeom prst="line">
            <a:avLst/>
          </a:prstGeom>
          <a:noFill/>
          <a:ln w="9525">
            <a:solidFill>
              <a:srgbClr val="E2E2E8"/>
            </a:solidFill>
            <a:prstDash val="solid"/>
          </a:ln>
        </p:spPr>
      </p:sp>
      <p:sp>
        <p:nvSpPr>
          <p:cNvPr id="8" name="Text 6"/>
          <p:cNvSpPr txBox="1"/>
          <p:nvPr/>
        </p:nvSpPr>
        <p:spPr>
          <a:xfrm>
            <a:off x="822960" y="2743200"/>
            <a:ext cx="5669280" cy="365760"/>
          </a:xfrm>
          <a:prstGeom prst="rect">
            <a:avLst/>
          </a:prstGeom>
          <a:noFill/>
          <a:ln/>
        </p:spPr>
        <p:txBody>
          <a:bodyPr wrap="square" lIns="0" tIns="0" rIns="0" bIns="0" rtlCol="0" anchor="ctr"/>
          <a:lstStyle/>
          <a:p>
            <a:pPr indent="0" marL="0">
              <a:buNone/>
            </a:pPr>
            <a:r>
              <a:rPr lang="en-US" sz="1600" dirty="0">
                <a:solidFill>
                  <a:schemeClr val="accent6"/>
                </a:solidFill>
                <a:latin typeface="Courier New" pitchFamily="34" charset="0"/>
                <a:ea typeface="Courier New" pitchFamily="34" charset="-122"/>
                <a:cs typeface="Courier New" pitchFamily="34" charset="-120"/>
              </a:rPr>
              <a:t>"id": "f-ci-pass-deploy-admin"</a:t>
            </a:r>
            <a:endParaRPr lang="en-US" sz="1600" dirty="0"/>
          </a:p>
        </p:txBody>
      </p:sp>
      <p:sp>
        <p:nvSpPr>
          <p:cNvPr id="9" name="Removed line"/>
          <p:cNvSpPr/>
          <p:nvPr/>
        </p:nvSpPr>
        <p:spPr>
          <a:xfrm>
            <a:off x="548640" y="3246120"/>
            <a:ext cx="6126480" cy="566928"/>
          </a:xfrm>
          <a:prstGeom prst="rect">
            <a:avLst/>
          </a:prstGeom>
          <a:solidFill>
            <a:srgbClr val="FDECEC"/>
          </a:solidFill>
          <a:ln/>
        </p:spPr>
      </p:sp>
      <p:sp>
        <p:nvSpPr>
          <p:cNvPr id="10" name="Removed text"/>
          <p:cNvSpPr txBox="1"/>
          <p:nvPr/>
        </p:nvSpPr>
        <p:spPr>
          <a:xfrm>
            <a:off x="822960" y="3246120"/>
            <a:ext cx="5669280" cy="566928"/>
          </a:xfrm>
          <a:prstGeom prst="rect">
            <a:avLst/>
          </a:prstGeom>
          <a:noFill/>
          <a:ln/>
        </p:spPr>
        <p:txBody>
          <a:bodyPr wrap="square" lIns="0" tIns="0" rIns="0" bIns="0" rtlCol="0" anchor="ctr"/>
          <a:lstStyle/>
          <a:p>
            <a:pPr indent="0" marL="0">
              <a:buNone/>
            </a:pPr>
            <a:r>
              <a:rPr lang="en-US" sz="2200" dirty="0">
                <a:solidFill>
                  <a:schemeClr val="accent4"/>
                </a:solidFill>
                <a:latin typeface="Courier New" pitchFamily="34" charset="0"/>
                <a:ea typeface="Courier New" pitchFamily="34" charset="-122"/>
                <a:cs typeface="Courier New" pitchFamily="34" charset="-120"/>
              </a:rPr>
              <a:t>27  −  </a:t>
            </a:r>
            <a:pPr indent="0" marL="0">
              <a:buNone/>
            </a:pPr>
            <a:r>
              <a:rPr lang="en-US" sz="2200" dirty="0">
                <a:solidFill>
                  <a:schemeClr val="tx1"/>
                </a:solidFill>
                <a:latin typeface="Courier New" pitchFamily="34" charset="0"/>
                <a:ea typeface="Courier New" pitchFamily="34" charset="-122"/>
                <a:cs typeface="Courier New" pitchFamily="34" charset="-120"/>
              </a:rPr>
              <a:t>"state": "</a:t>
            </a:r>
            <a:pPr indent="0" marL="0">
              <a:buNone/>
            </a:pPr>
            <a:r>
              <a:rPr lang="en-US" sz="2200" b="1" dirty="0">
                <a:solidFill>
                  <a:schemeClr val="accent4"/>
                </a:solidFill>
                <a:latin typeface="Courier New" pitchFamily="34" charset="0"/>
                <a:ea typeface="Courier New" pitchFamily="34" charset="-122"/>
                <a:cs typeface="Courier New" pitchFamily="34" charset="-120"/>
              </a:rPr>
              <a:t>false</a:t>
            </a:r>
            <a:pPr indent="0" marL="0">
              <a:buNone/>
            </a:pPr>
            <a:r>
              <a:rPr lang="en-US" sz="2200" dirty="0">
                <a:solidFill>
                  <a:schemeClr val="tx1"/>
                </a:solidFill>
                <a:latin typeface="Courier New" pitchFamily="34" charset="0"/>
                <a:ea typeface="Courier New" pitchFamily="34" charset="-122"/>
                <a:cs typeface="Courier New" pitchFamily="34" charset="-120"/>
              </a:rPr>
              <a:t>"</a:t>
            </a:r>
            <a:endParaRPr lang="en-US" sz="2200" dirty="0"/>
          </a:p>
        </p:txBody>
      </p:sp>
      <p:sp>
        <p:nvSpPr>
          <p:cNvPr id="11" name="Added line"/>
          <p:cNvSpPr/>
          <p:nvPr/>
        </p:nvSpPr>
        <p:spPr>
          <a:xfrm>
            <a:off x="548640" y="3813048"/>
            <a:ext cx="6126480" cy="566928"/>
          </a:xfrm>
          <a:prstGeom prst="rect">
            <a:avLst/>
          </a:prstGeom>
          <a:solidFill>
            <a:srgbClr val="E7F6EC"/>
          </a:solidFill>
          <a:ln/>
        </p:spPr>
      </p:sp>
      <p:sp>
        <p:nvSpPr>
          <p:cNvPr id="12" name="Added text"/>
          <p:cNvSpPr txBox="1"/>
          <p:nvPr/>
        </p:nvSpPr>
        <p:spPr>
          <a:xfrm>
            <a:off x="822960" y="3813048"/>
            <a:ext cx="5669280" cy="566928"/>
          </a:xfrm>
          <a:prstGeom prst="rect">
            <a:avLst/>
          </a:prstGeom>
          <a:noFill/>
          <a:ln/>
        </p:spPr>
        <p:txBody>
          <a:bodyPr wrap="square" lIns="0" tIns="0" rIns="0" bIns="0" rtlCol="0" anchor="ctr"/>
          <a:lstStyle/>
          <a:p>
            <a:pPr indent="0" marL="0">
              <a:buNone/>
            </a:pPr>
            <a:r>
              <a:rPr lang="en-US" sz="2200" dirty="0">
                <a:solidFill>
                  <a:schemeClr val="accent3"/>
                </a:solidFill>
                <a:latin typeface="Courier New" pitchFamily="34" charset="0"/>
                <a:ea typeface="Courier New" pitchFamily="34" charset="-122"/>
                <a:cs typeface="Courier New" pitchFamily="34" charset="-120"/>
              </a:rPr>
              <a:t>27  +  </a:t>
            </a:r>
            <a:pPr indent="0" marL="0">
              <a:buNone/>
            </a:pPr>
            <a:r>
              <a:rPr lang="en-US" sz="2200" dirty="0">
                <a:solidFill>
                  <a:schemeClr val="tx1"/>
                </a:solidFill>
                <a:latin typeface="Courier New" pitchFamily="34" charset="0"/>
                <a:ea typeface="Courier New" pitchFamily="34" charset="-122"/>
                <a:cs typeface="Courier New" pitchFamily="34" charset="-120"/>
              </a:rPr>
              <a:t>"state": "</a:t>
            </a:r>
            <a:pPr indent="0" marL="0">
              <a:buNone/>
            </a:pPr>
            <a:r>
              <a:rPr lang="en-US" sz="2200" b="1" dirty="0">
                <a:solidFill>
                  <a:schemeClr val="accent3"/>
                </a:solidFill>
                <a:latin typeface="Courier New" pitchFamily="34" charset="0"/>
                <a:ea typeface="Courier New" pitchFamily="34" charset="-122"/>
                <a:cs typeface="Courier New" pitchFamily="34" charset="-120"/>
              </a:rPr>
              <a:t>true</a:t>
            </a:r>
            <a:pPr indent="0" marL="0">
              <a:buNone/>
            </a:pPr>
            <a:r>
              <a:rPr lang="en-US" sz="2200" dirty="0">
                <a:solidFill>
                  <a:schemeClr val="tx1"/>
                </a:solidFill>
                <a:latin typeface="Courier New" pitchFamily="34" charset="0"/>
                <a:ea typeface="Courier New" pitchFamily="34" charset="-122"/>
                <a:cs typeface="Courier New" pitchFamily="34" charset="-120"/>
              </a:rPr>
              <a:t>"</a:t>
            </a:r>
            <a:endParaRPr lang="en-US" sz="2200" dirty="0"/>
          </a:p>
        </p:txBody>
      </p:sp>
      <p:sp>
        <p:nvSpPr>
          <p:cNvPr id="13" name="Text 11"/>
          <p:cNvSpPr txBox="1"/>
          <p:nvPr/>
        </p:nvSpPr>
        <p:spPr>
          <a:xfrm>
            <a:off x="822960" y="4572000"/>
            <a:ext cx="5669280" cy="457200"/>
          </a:xfrm>
          <a:prstGeom prst="rect">
            <a:avLst/>
          </a:prstGeom>
          <a:noFill/>
          <a:ln/>
        </p:spPr>
        <p:txBody>
          <a:bodyPr wrap="square" lIns="0" tIns="0" rIns="0" bIns="0" rtlCol="0" anchor="ctr"/>
          <a:lstStyle/>
          <a:p>
            <a:pPr indent="0" marL="0">
              <a:buNone/>
            </a:pPr>
            <a:r>
              <a:rPr lang="en-US" sz="1700" i="1" dirty="0">
                <a:solidFill>
                  <a:schemeClr val="tx2"/>
                </a:solidFill>
              </a:rPr>
              <a:t>To a reviewer, one word changed. It looks harmless.</a:t>
            </a:r>
            <a:endParaRPr lang="en-US" sz="1700" dirty="0"/>
          </a:p>
        </p:txBody>
      </p:sp>
      <p:sp>
        <p:nvSpPr>
          <p:cNvPr id="14" name="One line changes circle"/>
          <p:cNvSpPr/>
          <p:nvPr/>
        </p:nvSpPr>
        <p:spPr>
          <a:xfrm>
            <a:off x="7178040" y="1920240"/>
            <a:ext cx="621792" cy="621792"/>
          </a:xfrm>
          <a:prstGeom prst="ellipse">
            <a:avLst/>
          </a:prstGeom>
          <a:solidFill>
            <a:srgbClr val="EEF0FF"/>
          </a:solidFill>
          <a:ln/>
        </p:spPr>
      </p:sp>
      <p:pic>
        <p:nvPicPr>
          <p:cNvPr id="15" name="One line changes icon" descr="One line changes">    </p:cNvPr>
          <p:cNvPicPr>
            <a:picLocks noChangeAspect="1"/>
          </p:cNvPicPr>
          <p:nvPr/>
        </p:nvPicPr>
        <p:blipFill>
          <a:blip r:embed="rId1"/>
          <a:stretch>
            <a:fillRect/>
          </a:stretch>
        </p:blipFill>
        <p:spPr>
          <a:xfrm>
            <a:off x="7314834" y="2057034"/>
            <a:ext cx="348204" cy="348204"/>
          </a:xfrm>
          <a:prstGeom prst="rect">
            <a:avLst/>
          </a:prstGeom>
        </p:spPr>
      </p:pic>
      <p:sp>
        <p:nvSpPr>
          <p:cNvPr id="16" name="One line changes"/>
          <p:cNvSpPr txBox="1"/>
          <p:nvPr/>
        </p:nvSpPr>
        <p:spPr>
          <a:xfrm>
            <a:off x="8028432" y="1901952"/>
            <a:ext cx="3611880" cy="91440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One line changes</a:t>
            </a:r>
            <a:endParaRPr lang="en-US" sz="1600" dirty="0"/>
          </a:p>
          <a:p>
            <a:pPr indent="0" marL="0">
              <a:spcAft>
                <a:spcPts val="400"/>
              </a:spcAft>
              <a:buNone/>
            </a:pPr>
            <a:r>
              <a:rPr lang="en-US" sz="1600" dirty="0">
                <a:solidFill>
                  <a:schemeClr val="tx2"/>
                </a:solidFill>
              </a:rPr>
              <a:t>A permission flips from false to true.</a:t>
            </a:r>
            <a:endParaRPr lang="en-US" sz="1600" dirty="0"/>
          </a:p>
        </p:txBody>
      </p:sp>
      <p:sp>
        <p:nvSpPr>
          <p:cNvPr id="17" name="The risk stays hidden circle"/>
          <p:cNvSpPr/>
          <p:nvPr/>
        </p:nvSpPr>
        <p:spPr>
          <a:xfrm>
            <a:off x="7178040" y="3108960"/>
            <a:ext cx="621792" cy="621792"/>
          </a:xfrm>
          <a:prstGeom prst="ellipse">
            <a:avLst/>
          </a:prstGeom>
          <a:solidFill>
            <a:srgbClr val="EEF0FF"/>
          </a:solidFill>
          <a:ln/>
        </p:spPr>
      </p:sp>
      <p:pic>
        <p:nvPicPr>
          <p:cNvPr id="18" name="The risk stays hidden icon" descr="The risk stays hidden">    </p:cNvPr>
          <p:cNvPicPr>
            <a:picLocks noChangeAspect="1"/>
          </p:cNvPicPr>
          <p:nvPr/>
        </p:nvPicPr>
        <p:blipFill>
          <a:blip r:embed="rId2"/>
          <a:stretch>
            <a:fillRect/>
          </a:stretch>
        </p:blipFill>
        <p:spPr>
          <a:xfrm>
            <a:off x="7314834" y="3245754"/>
            <a:ext cx="348204" cy="348204"/>
          </a:xfrm>
          <a:prstGeom prst="rect">
            <a:avLst/>
          </a:prstGeom>
        </p:spPr>
      </p:pic>
      <p:sp>
        <p:nvSpPr>
          <p:cNvPr id="19" name="The risk stays hidden"/>
          <p:cNvSpPr txBox="1"/>
          <p:nvPr/>
        </p:nvSpPr>
        <p:spPr>
          <a:xfrm>
            <a:off x="8028432" y="3090672"/>
            <a:ext cx="3611880" cy="91440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The risk stays hidden</a:t>
            </a:r>
            <a:endParaRPr lang="en-US" sz="1600" dirty="0"/>
          </a:p>
          <a:p>
            <a:pPr indent="0" marL="0">
              <a:spcAft>
                <a:spcPts val="400"/>
              </a:spcAft>
              <a:buNone/>
            </a:pPr>
            <a:r>
              <a:rPr lang="en-US" sz="1600" dirty="0">
                <a:solidFill>
                  <a:schemeClr val="tx2"/>
                </a:solidFill>
              </a:rPr>
              <a:t>It lives in what that line connects to.</a:t>
            </a:r>
            <a:endParaRPr lang="en-US" sz="1600" dirty="0"/>
          </a:p>
        </p:txBody>
      </p:sp>
      <p:sp>
        <p:nvSpPr>
          <p:cNvPr id="20" name="Admin access is now open circle"/>
          <p:cNvSpPr/>
          <p:nvPr/>
        </p:nvSpPr>
        <p:spPr>
          <a:xfrm>
            <a:off x="7178040" y="4297680"/>
            <a:ext cx="621792" cy="621792"/>
          </a:xfrm>
          <a:prstGeom prst="ellipse">
            <a:avLst/>
          </a:prstGeom>
          <a:solidFill>
            <a:srgbClr val="FFF7E0"/>
          </a:solidFill>
          <a:ln/>
        </p:spPr>
      </p:sp>
      <p:pic>
        <p:nvPicPr>
          <p:cNvPr id="21" name="Admin access is now open icon" descr="Admin access is now open">    </p:cNvPr>
          <p:cNvPicPr>
            <a:picLocks noChangeAspect="1"/>
          </p:cNvPicPr>
          <p:nvPr/>
        </p:nvPicPr>
        <p:blipFill>
          <a:blip r:embed="rId3"/>
          <a:stretch>
            <a:fillRect/>
          </a:stretch>
        </p:blipFill>
        <p:spPr>
          <a:xfrm>
            <a:off x="7314834" y="4434474"/>
            <a:ext cx="348204" cy="348204"/>
          </a:xfrm>
          <a:prstGeom prst="rect">
            <a:avLst/>
          </a:prstGeom>
        </p:spPr>
      </p:pic>
      <p:sp>
        <p:nvSpPr>
          <p:cNvPr id="22" name="Admin access is now open"/>
          <p:cNvSpPr txBox="1"/>
          <p:nvPr/>
        </p:nvSpPr>
        <p:spPr>
          <a:xfrm>
            <a:off x="8028432" y="4279392"/>
            <a:ext cx="3611880" cy="91440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Admin access is now open</a:t>
            </a:r>
            <a:endParaRPr lang="en-US" sz="1600" dirty="0"/>
          </a:p>
          <a:p>
            <a:pPr indent="0" marL="0">
              <a:spcAft>
                <a:spcPts val="400"/>
              </a:spcAft>
              <a:buNone/>
            </a:pPr>
            <a:r>
              <a:rPr lang="en-US" sz="1600" dirty="0">
                <a:solidFill>
                  <a:schemeClr val="tx2"/>
                </a:solidFill>
              </a:rPr>
              <a:t>The build pipeline can act as an administrator.</a:t>
            </a:r>
            <a:endParaRPr lang="en-US" sz="1600" dirty="0"/>
          </a:p>
        </p:txBody>
      </p:sp>
    </p:spTree>
  </p:cSld>
  <p:clrMapOvr>
    <a:masterClrMapping/>
  </p:clrMapOvr>
  <p:transition spd="med" advTm="110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In plain words</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Your build pipeline can now act as admin</a:t>
            </a:r>
            <a:endParaRPr lang="en-US" sz="3600" dirty="0"/>
          </a:p>
        </p:txBody>
      </p:sp>
      <p:sp>
        <p:nvSpPr>
          <p:cNvPr id="4" name="Node: CI deploy user"/>
          <p:cNvSpPr/>
          <p:nvPr/>
        </p:nvSpPr>
        <p:spPr>
          <a:xfrm>
            <a:off x="548640" y="1920240"/>
            <a:ext cx="2743200" cy="1645920"/>
          </a:xfrm>
          <a:prstGeom prst="roundRect">
            <a:avLst>
              <a:gd name="adj" fmla="val 7778"/>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Entry point circle"/>
          <p:cNvSpPr/>
          <p:nvPr/>
        </p:nvSpPr>
        <p:spPr>
          <a:xfrm>
            <a:off x="804672" y="2148840"/>
            <a:ext cx="548640" cy="548640"/>
          </a:xfrm>
          <a:prstGeom prst="ellipse">
            <a:avLst/>
          </a:prstGeom>
          <a:solidFill>
            <a:srgbClr val="EEF0FF"/>
          </a:solidFill>
          <a:ln/>
        </p:spPr>
      </p:sp>
      <p:pic>
        <p:nvPicPr>
          <p:cNvPr id="6" name="Entry point icon" descr="Entry point">    </p:cNvPr>
          <p:cNvPicPr>
            <a:picLocks noChangeAspect="1"/>
          </p:cNvPicPr>
          <p:nvPr/>
        </p:nvPicPr>
        <p:blipFill>
          <a:blip r:embed="rId1"/>
          <a:stretch>
            <a:fillRect/>
          </a:stretch>
        </p:blipFill>
        <p:spPr>
          <a:xfrm>
            <a:off x="925373" y="2269541"/>
            <a:ext cx="307238" cy="307238"/>
          </a:xfrm>
          <a:prstGeom prst="rect">
            <a:avLst/>
          </a:prstGeom>
        </p:spPr>
      </p:pic>
      <p:sp>
        <p:nvSpPr>
          <p:cNvPr id="7" name="Kind: Entry point"/>
          <p:cNvSpPr txBox="1"/>
          <p:nvPr/>
        </p:nvSpPr>
        <p:spPr>
          <a:xfrm>
            <a:off x="1536192" y="2148840"/>
            <a:ext cx="1554480" cy="548640"/>
          </a:xfrm>
          <a:prstGeom prst="rect">
            <a:avLst/>
          </a:prstGeom>
          <a:noFill/>
          <a:ln/>
        </p:spPr>
        <p:txBody>
          <a:bodyPr wrap="square" lIns="0" tIns="0" rIns="0" bIns="0" rtlCol="0" anchor="ctr"/>
          <a:lstStyle/>
          <a:p>
            <a:pPr indent="0" marL="0">
              <a:buNone/>
            </a:pPr>
            <a:r>
              <a:rPr lang="en-US" sz="1500" dirty="0">
                <a:solidFill>
                  <a:schemeClr val="accent6"/>
                </a:solidFill>
              </a:rPr>
              <a:t>Entry point</a:t>
            </a:r>
            <a:endParaRPr lang="en-US" sz="1500" dirty="0"/>
          </a:p>
        </p:txBody>
      </p:sp>
      <p:sp>
        <p:nvSpPr>
          <p:cNvPr id="8" name="Name: CI deploy user"/>
          <p:cNvSpPr txBox="1"/>
          <p:nvPr/>
        </p:nvSpPr>
        <p:spPr>
          <a:xfrm>
            <a:off x="804672" y="2862072"/>
            <a:ext cx="2286000" cy="594360"/>
          </a:xfrm>
          <a:prstGeom prst="rect">
            <a:avLst/>
          </a:prstGeom>
          <a:noFill/>
          <a:ln/>
        </p:spPr>
        <p:txBody>
          <a:bodyPr wrap="square" lIns="0" tIns="0" rIns="0" bIns="0" rtlCol="0" anchor="t"/>
          <a:lstStyle/>
          <a:p>
            <a:pPr indent="0" marL="0">
              <a:buNone/>
            </a:pPr>
            <a:r>
              <a:rPr lang="en-US" sz="2100" b="1" dirty="0">
                <a:solidFill>
                  <a:schemeClr val="tx1"/>
                </a:solidFill>
              </a:rPr>
              <a:t>CI deploy user</a:t>
            </a:r>
            <a:endParaRPr lang="en-US" sz="2100" dirty="0"/>
          </a:p>
        </p:txBody>
      </p:sp>
      <p:sp>
        <p:nvSpPr>
          <p:cNvPr id="9" name="Node: Post-build hook"/>
          <p:cNvSpPr/>
          <p:nvPr/>
        </p:nvSpPr>
        <p:spPr>
          <a:xfrm>
            <a:off x="4722876" y="1920240"/>
            <a:ext cx="2743200" cy="1645920"/>
          </a:xfrm>
          <a:prstGeom prst="roundRect">
            <a:avLst>
              <a:gd name="adj" fmla="val 7778"/>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0" name="Lambda function circle"/>
          <p:cNvSpPr/>
          <p:nvPr/>
        </p:nvSpPr>
        <p:spPr>
          <a:xfrm>
            <a:off x="4978908" y="2148840"/>
            <a:ext cx="548640" cy="548640"/>
          </a:xfrm>
          <a:prstGeom prst="ellipse">
            <a:avLst/>
          </a:prstGeom>
          <a:solidFill>
            <a:srgbClr val="EEF0FF"/>
          </a:solidFill>
          <a:ln/>
        </p:spPr>
      </p:sp>
      <p:pic>
        <p:nvPicPr>
          <p:cNvPr id="11" name="Lambda function icon" descr="Lambda function">    </p:cNvPr>
          <p:cNvPicPr>
            <a:picLocks noChangeAspect="1"/>
          </p:cNvPicPr>
          <p:nvPr/>
        </p:nvPicPr>
        <p:blipFill>
          <a:blip r:embed="rId2"/>
          <a:stretch>
            <a:fillRect/>
          </a:stretch>
        </p:blipFill>
        <p:spPr>
          <a:xfrm>
            <a:off x="5099609" y="2269541"/>
            <a:ext cx="307238" cy="307238"/>
          </a:xfrm>
          <a:prstGeom prst="rect">
            <a:avLst/>
          </a:prstGeom>
        </p:spPr>
      </p:pic>
      <p:sp>
        <p:nvSpPr>
          <p:cNvPr id="12" name="Kind: Lambda function"/>
          <p:cNvSpPr txBox="1"/>
          <p:nvPr/>
        </p:nvSpPr>
        <p:spPr>
          <a:xfrm>
            <a:off x="5710428" y="2148840"/>
            <a:ext cx="1554480" cy="548640"/>
          </a:xfrm>
          <a:prstGeom prst="rect">
            <a:avLst/>
          </a:prstGeom>
          <a:noFill/>
          <a:ln/>
        </p:spPr>
        <p:txBody>
          <a:bodyPr wrap="square" lIns="0" tIns="0" rIns="0" bIns="0" rtlCol="0" anchor="ctr"/>
          <a:lstStyle/>
          <a:p>
            <a:pPr indent="0" marL="0">
              <a:buNone/>
            </a:pPr>
            <a:r>
              <a:rPr lang="en-US" sz="1500" dirty="0">
                <a:solidFill>
                  <a:schemeClr val="accent6"/>
                </a:solidFill>
              </a:rPr>
              <a:t>Lambda function</a:t>
            </a:r>
            <a:endParaRPr lang="en-US" sz="1500" dirty="0"/>
          </a:p>
        </p:txBody>
      </p:sp>
      <p:sp>
        <p:nvSpPr>
          <p:cNvPr id="13" name="Name: Post-build hook"/>
          <p:cNvSpPr txBox="1"/>
          <p:nvPr/>
        </p:nvSpPr>
        <p:spPr>
          <a:xfrm>
            <a:off x="4978908" y="2862072"/>
            <a:ext cx="2286000" cy="594360"/>
          </a:xfrm>
          <a:prstGeom prst="rect">
            <a:avLst/>
          </a:prstGeom>
          <a:noFill/>
          <a:ln/>
        </p:spPr>
        <p:txBody>
          <a:bodyPr wrap="square" lIns="0" tIns="0" rIns="0" bIns="0" rtlCol="0" anchor="t"/>
          <a:lstStyle/>
          <a:p>
            <a:pPr indent="0" marL="0">
              <a:buNone/>
            </a:pPr>
            <a:r>
              <a:rPr lang="en-US" sz="2100" b="1" dirty="0">
                <a:solidFill>
                  <a:schemeClr val="tx1"/>
                </a:solidFill>
              </a:rPr>
              <a:t>Post-build hook</a:t>
            </a:r>
            <a:endParaRPr lang="en-US" sz="2100" dirty="0"/>
          </a:p>
        </p:txBody>
      </p:sp>
      <p:sp>
        <p:nvSpPr>
          <p:cNvPr id="14" name="Node: Deployment admin role"/>
          <p:cNvSpPr/>
          <p:nvPr/>
        </p:nvSpPr>
        <p:spPr>
          <a:xfrm>
            <a:off x="8897112" y="1920240"/>
            <a:ext cx="2743200" cy="1645920"/>
          </a:xfrm>
          <a:prstGeom prst="roundRect">
            <a:avLst>
              <a:gd name="adj" fmla="val 7778"/>
            </a:avLst>
          </a:prstGeom>
          <a:solidFill>
            <a:schemeClr val="bg1"/>
          </a:solidFill>
          <a:ln w="28575">
            <a:solidFill>
              <a:srgbClr val="FCD34D"/>
            </a:solidFill>
            <a:prstDash val="solid"/>
          </a:ln>
          <a:effectLst>
            <a:outerShdw sx="100000" sy="100000" kx="0" ky="0" algn="bl" rotWithShape="0" blurRad="127000" dist="25400" dir="5400000">
              <a:srgbClr val="000000">
                <a:alpha val="8000"/>
              </a:srgbClr>
            </a:outerShdw>
          </a:effectLst>
        </p:spPr>
      </p:sp>
      <p:sp>
        <p:nvSpPr>
          <p:cNvPr id="15" name="Protected role circle"/>
          <p:cNvSpPr/>
          <p:nvPr/>
        </p:nvSpPr>
        <p:spPr>
          <a:xfrm>
            <a:off x="9153144" y="2148840"/>
            <a:ext cx="548640" cy="548640"/>
          </a:xfrm>
          <a:prstGeom prst="ellipse">
            <a:avLst/>
          </a:prstGeom>
          <a:solidFill>
            <a:srgbClr val="FFF7E0"/>
          </a:solidFill>
          <a:ln/>
        </p:spPr>
      </p:sp>
      <p:pic>
        <p:nvPicPr>
          <p:cNvPr id="16" name="Protected role icon" descr="Protected role">    </p:cNvPr>
          <p:cNvPicPr>
            <a:picLocks noChangeAspect="1"/>
          </p:cNvPicPr>
          <p:nvPr/>
        </p:nvPicPr>
        <p:blipFill>
          <a:blip r:embed="rId3"/>
          <a:stretch>
            <a:fillRect/>
          </a:stretch>
        </p:blipFill>
        <p:spPr>
          <a:xfrm>
            <a:off x="9273845" y="2269541"/>
            <a:ext cx="307238" cy="307238"/>
          </a:xfrm>
          <a:prstGeom prst="rect">
            <a:avLst/>
          </a:prstGeom>
        </p:spPr>
      </p:pic>
      <p:sp>
        <p:nvSpPr>
          <p:cNvPr id="17" name="Kind: Protected role"/>
          <p:cNvSpPr txBox="1"/>
          <p:nvPr/>
        </p:nvSpPr>
        <p:spPr>
          <a:xfrm>
            <a:off x="9884664" y="2148840"/>
            <a:ext cx="1554480" cy="548640"/>
          </a:xfrm>
          <a:prstGeom prst="rect">
            <a:avLst/>
          </a:prstGeom>
          <a:noFill/>
          <a:ln/>
        </p:spPr>
        <p:txBody>
          <a:bodyPr wrap="square" lIns="0" tIns="0" rIns="0" bIns="0" rtlCol="0" anchor="ctr"/>
          <a:lstStyle/>
          <a:p>
            <a:pPr indent="0" marL="0">
              <a:buNone/>
            </a:pPr>
            <a:r>
              <a:rPr lang="en-US" sz="1500" dirty="0">
                <a:solidFill>
                  <a:srgbClr val="B45309"/>
                </a:solidFill>
              </a:rPr>
              <a:t>Protected role</a:t>
            </a:r>
            <a:endParaRPr lang="en-US" sz="1500" dirty="0"/>
          </a:p>
        </p:txBody>
      </p:sp>
      <p:sp>
        <p:nvSpPr>
          <p:cNvPr id="18" name="Name: Deployment admin role"/>
          <p:cNvSpPr txBox="1"/>
          <p:nvPr/>
        </p:nvSpPr>
        <p:spPr>
          <a:xfrm>
            <a:off x="9153144" y="2862072"/>
            <a:ext cx="2286000" cy="594360"/>
          </a:xfrm>
          <a:prstGeom prst="rect">
            <a:avLst/>
          </a:prstGeom>
          <a:noFill/>
          <a:ln/>
        </p:spPr>
        <p:txBody>
          <a:bodyPr wrap="square" lIns="0" tIns="0" rIns="0" bIns="0" rtlCol="0" anchor="t"/>
          <a:lstStyle/>
          <a:p>
            <a:pPr indent="0" marL="0">
              <a:buNone/>
            </a:pPr>
            <a:r>
              <a:rPr lang="en-US" sz="2100" b="1" dirty="0">
                <a:solidFill>
                  <a:schemeClr val="tx1"/>
                </a:solidFill>
              </a:rPr>
              <a:t>Deployment admin role</a:t>
            </a:r>
            <a:endParaRPr lang="en-US" sz="2100" dirty="0"/>
          </a:p>
        </p:txBody>
      </p:sp>
      <p:sp>
        <p:nvSpPr>
          <p:cNvPr id="19" name="Chip: NEW"/>
          <p:cNvSpPr/>
          <p:nvPr/>
        </p:nvSpPr>
        <p:spPr>
          <a:xfrm>
            <a:off x="3685032" y="2011680"/>
            <a:ext cx="640080" cy="329184"/>
          </a:xfrm>
          <a:prstGeom prst="roundRect">
            <a:avLst>
              <a:gd name="adj" fmla="val 50000"/>
            </a:avLst>
          </a:prstGeom>
          <a:solidFill>
            <a:srgbClr val="FFF7E0"/>
          </a:solidFill>
          <a:ln w="12700">
            <a:solidFill>
              <a:srgbClr val="FCD34D"/>
            </a:solidFill>
          </a:ln>
        </p:spPr>
        <p:txBody>
          <a:bodyPr wrap="square" lIns="0" tIns="0" rIns="0" bIns="0" rtlCol="0" anchor="ctr"/>
          <a:lstStyle/>
          <a:p>
            <a:pPr algn="ctr" indent="0" marL="0">
              <a:buNone/>
            </a:pPr>
            <a:r>
              <a:rPr lang="en-US" sz="1300" b="1" dirty="0">
                <a:solidFill>
                  <a:srgbClr val="B45309"/>
                </a:solidFill>
              </a:rPr>
              <a:t>NEW</a:t>
            </a:r>
            <a:endParaRPr lang="en-US" sz="1300" dirty="0"/>
          </a:p>
        </p:txBody>
      </p:sp>
      <p:sp>
        <p:nvSpPr>
          <p:cNvPr id="20" name="Text 15"/>
          <p:cNvSpPr txBox="1"/>
          <p:nvPr/>
        </p:nvSpPr>
        <p:spPr>
          <a:xfrm>
            <a:off x="3364992" y="2395728"/>
            <a:ext cx="1280160" cy="292608"/>
          </a:xfrm>
          <a:prstGeom prst="rect">
            <a:avLst/>
          </a:prstGeom>
          <a:noFill/>
          <a:ln/>
        </p:spPr>
        <p:txBody>
          <a:bodyPr wrap="square" lIns="0" tIns="0" rIns="0" bIns="0" rtlCol="0" anchor="b"/>
          <a:lstStyle/>
          <a:p>
            <a:pPr algn="ctr" indent="0" marL="0">
              <a:buNone/>
            </a:pPr>
            <a:r>
              <a:rPr lang="en-US" sz="1200" b="1" dirty="0">
                <a:solidFill>
                  <a:srgbClr val="B45309"/>
                </a:solidFill>
              </a:rPr>
              <a:t>can pass the admin role to</a:t>
            </a:r>
            <a:endParaRPr lang="en-US" sz="1200" dirty="0"/>
          </a:p>
        </p:txBody>
      </p:sp>
      <p:sp>
        <p:nvSpPr>
          <p:cNvPr id="21" name="New arrow"/>
          <p:cNvSpPr/>
          <p:nvPr/>
        </p:nvSpPr>
        <p:spPr>
          <a:xfrm>
            <a:off x="3364992" y="2743200"/>
            <a:ext cx="1289304" cy="0"/>
          </a:xfrm>
          <a:prstGeom prst="line">
            <a:avLst/>
          </a:prstGeom>
          <a:noFill/>
          <a:ln w="44450">
            <a:solidFill>
              <a:schemeClr val="accent2"/>
            </a:solidFill>
            <a:prstDash val="solid"/>
            <a:tailEnd type="triangle"/>
          </a:ln>
        </p:spPr>
      </p:sp>
      <p:sp>
        <p:nvSpPr>
          <p:cNvPr id="22" name="Text 17"/>
          <p:cNvSpPr txBox="1"/>
          <p:nvPr/>
        </p:nvSpPr>
        <p:spPr>
          <a:xfrm>
            <a:off x="7534656" y="2377440"/>
            <a:ext cx="1298448" cy="292608"/>
          </a:xfrm>
          <a:prstGeom prst="rect">
            <a:avLst/>
          </a:prstGeom>
          <a:noFill/>
          <a:ln/>
        </p:spPr>
        <p:txBody>
          <a:bodyPr wrap="square" lIns="0" tIns="0" rIns="0" bIns="0" rtlCol="0" anchor="b"/>
          <a:lstStyle/>
          <a:p>
            <a:pPr algn="ctr" indent="0" marL="0">
              <a:buNone/>
            </a:pPr>
            <a:r>
              <a:rPr lang="en-US" sz="1400" dirty="0">
                <a:solidFill>
                  <a:schemeClr val="accent6"/>
                </a:solidFill>
              </a:rPr>
              <a:t>runs as</a:t>
            </a:r>
            <a:endParaRPr lang="en-US" sz="1400" dirty="0"/>
          </a:p>
        </p:txBody>
      </p:sp>
      <p:sp>
        <p:nvSpPr>
          <p:cNvPr id="23" name="Runs-as arrow"/>
          <p:cNvSpPr/>
          <p:nvPr/>
        </p:nvSpPr>
        <p:spPr>
          <a:xfrm>
            <a:off x="7534656" y="2743200"/>
            <a:ext cx="1298448" cy="0"/>
          </a:xfrm>
          <a:prstGeom prst="line">
            <a:avLst/>
          </a:prstGeom>
          <a:noFill/>
          <a:ln w="38100">
            <a:solidFill>
              <a:schemeClr val="accent1"/>
            </a:solidFill>
            <a:prstDash val="solid"/>
            <a:tailEnd type="triangle"/>
          </a:ln>
        </p:spPr>
      </p:sp>
      <p:sp>
        <p:nvSpPr>
          <p:cNvPr id="24" name="What changed"/>
          <p:cNvSpPr/>
          <p:nvPr/>
        </p:nvSpPr>
        <p:spPr>
          <a:xfrm>
            <a:off x="548640" y="3977640"/>
            <a:ext cx="5394960" cy="2057400"/>
          </a:xfrm>
          <a:prstGeom prst="roundRect">
            <a:avLst>
              <a:gd name="adj" fmla="val 6222"/>
            </a:avLst>
          </a:prstGeom>
          <a:solidFill>
            <a:srgbClr val="FFF7E0"/>
          </a:solidFill>
          <a:ln w="9525">
            <a:solidFill>
              <a:srgbClr val="FCD34D"/>
            </a:solidFill>
            <a:prstDash val="solid"/>
          </a:ln>
        </p:spPr>
      </p:sp>
      <p:sp>
        <p:nvSpPr>
          <p:cNvPr id="25" name="Text 20"/>
          <p:cNvSpPr txBox="1"/>
          <p:nvPr/>
        </p:nvSpPr>
        <p:spPr>
          <a:xfrm>
            <a:off x="822960" y="4206240"/>
            <a:ext cx="4846320" cy="1645920"/>
          </a:xfrm>
          <a:prstGeom prst="rect">
            <a:avLst/>
          </a:prstGeom>
          <a:noFill/>
          <a:ln/>
        </p:spPr>
        <p:txBody>
          <a:bodyPr wrap="square" lIns="0" tIns="0" rIns="0" bIns="0" rtlCol="0" anchor="t"/>
          <a:lstStyle/>
          <a:p>
            <a:pPr indent="0" marL="0">
              <a:spcAft>
                <a:spcPts val="800"/>
              </a:spcAft>
              <a:buNone/>
            </a:pPr>
            <a:r>
              <a:rPr lang="en-US" sz="1600" b="1" dirty="0">
                <a:solidFill>
                  <a:srgbClr val="B45309"/>
                </a:solidFill>
              </a:rPr>
              <a:t>What changed</a:t>
            </a:r>
            <a:endParaRPr lang="en-US" sz="1600" dirty="0"/>
          </a:p>
          <a:p>
            <a:pPr indent="0" marL="0">
              <a:spcAft>
                <a:spcPts val="800"/>
              </a:spcAft>
              <a:buNone/>
            </a:pPr>
            <a:r>
              <a:rPr lang="en-US" sz="2200" b="1" dirty="0">
                <a:solidFill>
                  <a:schemeClr val="tx1"/>
                </a:solidFill>
              </a:rPr>
              <a:t>The build pipeline can now start its own code with the admin role's powers.</a:t>
            </a:r>
            <a:endParaRPr lang="en-US" sz="1600" dirty="0"/>
          </a:p>
        </p:txBody>
      </p:sp>
      <p:sp>
        <p:nvSpPr>
          <p:cNvPr id="26" name="What is PassRole"/>
          <p:cNvSpPr/>
          <p:nvPr/>
        </p:nvSpPr>
        <p:spPr>
          <a:xfrm>
            <a:off x="6245352" y="3977640"/>
            <a:ext cx="5394960" cy="2057400"/>
          </a:xfrm>
          <a:prstGeom prst="roundRect">
            <a:avLst>
              <a:gd name="adj" fmla="val 6222"/>
            </a:avLst>
          </a:prstGeom>
          <a:solidFill>
            <a:srgbClr val="EEF0FF"/>
          </a:solidFill>
          <a:ln w="9525">
            <a:solidFill>
              <a:srgbClr val="EEF0FF"/>
            </a:solidFill>
            <a:prstDash val="solid"/>
          </a:ln>
        </p:spPr>
      </p:sp>
      <p:sp>
        <p:nvSpPr>
          <p:cNvPr id="27" name="Text 22"/>
          <p:cNvSpPr txBox="1"/>
          <p:nvPr/>
        </p:nvSpPr>
        <p:spPr>
          <a:xfrm>
            <a:off x="6519672" y="4206240"/>
            <a:ext cx="4846320" cy="1645920"/>
          </a:xfrm>
          <a:prstGeom prst="rect">
            <a:avLst/>
          </a:prstGeom>
          <a:noFill/>
          <a:ln/>
        </p:spPr>
        <p:txBody>
          <a:bodyPr wrap="square" lIns="0" tIns="0" rIns="0" bIns="0" rtlCol="0" anchor="t"/>
          <a:lstStyle/>
          <a:p>
            <a:pPr indent="0" marL="0">
              <a:spcAft>
                <a:spcPts val="800"/>
              </a:spcAft>
              <a:buNone/>
            </a:pPr>
            <a:r>
              <a:rPr lang="en-US" sz="1600" b="1" dirty="0">
                <a:solidFill>
                  <a:srgbClr val="4044F0"/>
                </a:solidFill>
              </a:rPr>
              <a:t>What is iam:PassRole?</a:t>
            </a:r>
            <a:endParaRPr lang="en-US" sz="1600" dirty="0"/>
          </a:p>
          <a:p>
            <a:pPr indent="0" marL="0">
              <a:spcAft>
                <a:spcPts val="800"/>
              </a:spcAft>
              <a:buNone/>
            </a:pPr>
            <a:r>
              <a:rPr lang="en-US" sz="1800" dirty="0">
                <a:solidFill>
                  <a:schemeClr val="tx1"/>
                </a:solidFill>
              </a:rPr>
              <a:t>The permission to hand a role to an AWS service. Hand an admin role to code you control, and that code runs as admin.</a:t>
            </a:r>
            <a:endParaRPr lang="en-US" sz="1600" dirty="0"/>
          </a:p>
        </p:txBody>
      </p:sp>
    </p:spTree>
  </p:cSld>
  <p:clrMapOvr>
    <a:masterClrMapping/>
  </p:clrMapOvr>
  <p:transition spd="med" advTm="120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Why reviews miss it</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The risk hides in the combination</a:t>
            </a:r>
            <a:endParaRPr lang="en-US" sz="3600" dirty="0"/>
          </a:p>
        </p:txBody>
      </p:sp>
      <p:sp>
        <p:nvSpPr>
          <p:cNvPr id="4" name="Condition 1"/>
          <p:cNvSpPr/>
          <p:nvPr/>
        </p:nvSpPr>
        <p:spPr>
          <a:xfrm>
            <a:off x="548640" y="1828800"/>
            <a:ext cx="6400800" cy="475488"/>
          </a:xfrm>
          <a:prstGeom prst="roundRect">
            <a:avLst>
              <a:gd name="adj" fmla="val 19231"/>
            </a:avLst>
          </a:prstGeom>
          <a:solidFill>
            <a:srgbClr val="FFF7E0"/>
          </a:solidFill>
          <a:ln w="19050">
            <a:solidFill>
              <a:srgbClr val="FCD34D"/>
            </a:solidFill>
            <a:prstDash val="solid"/>
          </a:ln>
        </p:spPr>
      </p:sp>
      <p:pic>
        <p:nvPicPr>
          <p:cNvPr id="5" name="Image 0" descr="Changed condition">    </p:cNvPr>
          <p:cNvPicPr>
            <a:picLocks noChangeAspect="1"/>
          </p:cNvPicPr>
          <p:nvPr/>
        </p:nvPicPr>
        <p:blipFill>
          <a:blip r:embed="rId1"/>
          <a:stretch>
            <a:fillRect/>
          </a:stretch>
        </p:blipFill>
        <p:spPr>
          <a:xfrm>
            <a:off x="731520" y="1929384"/>
            <a:ext cx="274320" cy="274320"/>
          </a:xfrm>
          <a:prstGeom prst="rect">
            <a:avLst/>
          </a:prstGeom>
        </p:spPr>
      </p:pic>
      <p:sp>
        <p:nvSpPr>
          <p:cNvPr id="6" name="Text 3"/>
          <p:cNvSpPr txBox="1"/>
          <p:nvPr/>
        </p:nvSpPr>
        <p:spPr>
          <a:xfrm>
            <a:off x="1143000" y="1828800"/>
            <a:ext cx="4023360" cy="475488"/>
          </a:xfrm>
          <a:prstGeom prst="rect">
            <a:avLst/>
          </a:prstGeom>
          <a:noFill/>
          <a:ln/>
        </p:spPr>
        <p:txBody>
          <a:bodyPr wrap="square" lIns="0" tIns="0" rIns="0" bIns="0" rtlCol="0" anchor="ctr"/>
          <a:lstStyle/>
          <a:p>
            <a:pPr indent="0" marL="0">
              <a:buNone/>
            </a:pPr>
            <a:r>
              <a:rPr lang="en-US" sz="1700" b="1" dirty="0">
                <a:solidFill>
                  <a:schemeClr val="tx1"/>
                </a:solidFill>
              </a:rPr>
              <a:t>Can pass the admin role to Lambda</a:t>
            </a:r>
            <a:endParaRPr lang="en-US" sz="1700" dirty="0"/>
          </a:p>
        </p:txBody>
      </p:sp>
      <p:sp>
        <p:nvSpPr>
          <p:cNvPr id="7" name="Chip: NEW: false → true"/>
          <p:cNvSpPr/>
          <p:nvPr/>
        </p:nvSpPr>
        <p:spPr>
          <a:xfrm>
            <a:off x="5120640" y="1911096"/>
            <a:ext cx="1691640" cy="310896"/>
          </a:xfrm>
          <a:prstGeom prst="roundRect">
            <a:avLst>
              <a:gd name="adj" fmla="val 50000"/>
            </a:avLst>
          </a:prstGeom>
          <a:solidFill>
            <a:srgbClr val="FFFFFF"/>
          </a:solidFill>
          <a:ln w="12700">
            <a:solidFill>
              <a:srgbClr val="FCD34D"/>
            </a:solidFill>
          </a:ln>
        </p:spPr>
        <p:txBody>
          <a:bodyPr wrap="square" lIns="0" tIns="0" rIns="0" bIns="0" rtlCol="0" anchor="ctr"/>
          <a:lstStyle/>
          <a:p>
            <a:pPr algn="ctr" indent="0" marL="0">
              <a:buNone/>
            </a:pPr>
            <a:r>
              <a:rPr lang="en-US" sz="1200" b="1" dirty="0">
                <a:solidFill>
                  <a:srgbClr val="B45309"/>
                </a:solidFill>
              </a:rPr>
              <a:t>NEW: false → true</a:t>
            </a:r>
            <a:endParaRPr lang="en-US" sz="1200" dirty="0"/>
          </a:p>
        </p:txBody>
      </p:sp>
      <p:sp>
        <p:nvSpPr>
          <p:cNvPr id="8" name="Condition 2"/>
          <p:cNvSpPr/>
          <p:nvPr/>
        </p:nvSpPr>
        <p:spPr>
          <a:xfrm>
            <a:off x="548640" y="2395728"/>
            <a:ext cx="6400800" cy="475488"/>
          </a:xfrm>
          <a:prstGeom prst="roundRect">
            <a:avLst>
              <a:gd name="adj" fmla="val 19231"/>
            </a:avLst>
          </a:prstGeom>
          <a:solidFill>
            <a:schemeClr val="bg1"/>
          </a:solidFill>
          <a:ln w="9525">
            <a:solidFill>
              <a:srgbClr val="E2E2E8"/>
            </a:solidFill>
            <a:prstDash val="solid"/>
          </a:ln>
        </p:spPr>
      </p:sp>
      <p:pic>
        <p:nvPicPr>
          <p:cNvPr id="9" name="Image 1" descr="Condition already true">    </p:cNvPr>
          <p:cNvPicPr>
            <a:picLocks noChangeAspect="1"/>
          </p:cNvPicPr>
          <p:nvPr/>
        </p:nvPicPr>
        <p:blipFill>
          <a:blip r:embed="rId2"/>
          <a:stretch>
            <a:fillRect/>
          </a:stretch>
        </p:blipFill>
        <p:spPr>
          <a:xfrm>
            <a:off x="731520" y="2496312"/>
            <a:ext cx="274320" cy="274320"/>
          </a:xfrm>
          <a:prstGeom prst="rect">
            <a:avLst/>
          </a:prstGeom>
        </p:spPr>
      </p:pic>
      <p:sp>
        <p:nvSpPr>
          <p:cNvPr id="10" name="Text 6"/>
          <p:cNvSpPr txBox="1"/>
          <p:nvPr/>
        </p:nvSpPr>
        <p:spPr>
          <a:xfrm>
            <a:off x="1143000" y="2395728"/>
            <a:ext cx="4023360" cy="475488"/>
          </a:xfrm>
          <a:prstGeom prst="rect">
            <a:avLst/>
          </a:prstGeom>
          <a:noFill/>
          <a:ln/>
        </p:spPr>
        <p:txBody>
          <a:bodyPr wrap="square" lIns="0" tIns="0" rIns="0" bIns="0" rtlCol="0" anchor="ctr"/>
          <a:lstStyle/>
          <a:p>
            <a:pPr indent="0" marL="0">
              <a:buNone/>
            </a:pPr>
            <a:r>
              <a:rPr lang="en-US" sz="1700" dirty="0">
                <a:solidFill>
                  <a:schemeClr val="tx1"/>
                </a:solidFill>
              </a:rPr>
              <a:t>Can create the post-build hook</a:t>
            </a:r>
            <a:endParaRPr lang="en-US" sz="1700" dirty="0"/>
          </a:p>
        </p:txBody>
      </p:sp>
      <p:sp>
        <p:nvSpPr>
          <p:cNvPr id="11" name="Text 7"/>
          <p:cNvSpPr txBox="1"/>
          <p:nvPr/>
        </p:nvSpPr>
        <p:spPr>
          <a:xfrm>
            <a:off x="5120640" y="2395728"/>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12" name="Condition 3"/>
          <p:cNvSpPr/>
          <p:nvPr/>
        </p:nvSpPr>
        <p:spPr>
          <a:xfrm>
            <a:off x="548640" y="2962656"/>
            <a:ext cx="6400800" cy="475488"/>
          </a:xfrm>
          <a:prstGeom prst="roundRect">
            <a:avLst>
              <a:gd name="adj" fmla="val 19231"/>
            </a:avLst>
          </a:prstGeom>
          <a:solidFill>
            <a:schemeClr val="bg1"/>
          </a:solidFill>
          <a:ln w="9525">
            <a:solidFill>
              <a:srgbClr val="E2E2E8"/>
            </a:solidFill>
            <a:prstDash val="solid"/>
          </a:ln>
        </p:spPr>
      </p:sp>
      <p:pic>
        <p:nvPicPr>
          <p:cNvPr id="13" name="Image 2" descr="Condition already true">    </p:cNvPr>
          <p:cNvPicPr>
            <a:picLocks noChangeAspect="1"/>
          </p:cNvPicPr>
          <p:nvPr/>
        </p:nvPicPr>
        <p:blipFill>
          <a:blip r:embed="rId3"/>
          <a:stretch>
            <a:fillRect/>
          </a:stretch>
        </p:blipFill>
        <p:spPr>
          <a:xfrm>
            <a:off x="731520" y="3063240"/>
            <a:ext cx="274320" cy="274320"/>
          </a:xfrm>
          <a:prstGeom prst="rect">
            <a:avLst/>
          </a:prstGeom>
        </p:spPr>
      </p:pic>
      <p:sp>
        <p:nvSpPr>
          <p:cNvPr id="14" name="Text 9"/>
          <p:cNvSpPr txBox="1"/>
          <p:nvPr/>
        </p:nvSpPr>
        <p:spPr>
          <a:xfrm>
            <a:off x="1143000" y="2962656"/>
            <a:ext cx="4023360" cy="475488"/>
          </a:xfrm>
          <a:prstGeom prst="rect">
            <a:avLst/>
          </a:prstGeom>
          <a:noFill/>
          <a:ln/>
        </p:spPr>
        <p:txBody>
          <a:bodyPr wrap="square" lIns="0" tIns="0" rIns="0" bIns="0" rtlCol="0" anchor="ctr"/>
          <a:lstStyle/>
          <a:p>
            <a:pPr indent="0" marL="0">
              <a:buNone/>
            </a:pPr>
            <a:r>
              <a:rPr lang="en-US" sz="1700" dirty="0">
                <a:solidFill>
                  <a:schemeClr val="tx1"/>
                </a:solidFill>
              </a:rPr>
              <a:t>Can invoke the function</a:t>
            </a:r>
            <a:endParaRPr lang="en-US" sz="1700" dirty="0"/>
          </a:p>
        </p:txBody>
      </p:sp>
      <p:sp>
        <p:nvSpPr>
          <p:cNvPr id="15" name="Text 10"/>
          <p:cNvSpPr txBox="1"/>
          <p:nvPr/>
        </p:nvSpPr>
        <p:spPr>
          <a:xfrm>
            <a:off x="5120640" y="2962656"/>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16" name="Condition 4"/>
          <p:cNvSpPr/>
          <p:nvPr/>
        </p:nvSpPr>
        <p:spPr>
          <a:xfrm>
            <a:off x="548640" y="3529584"/>
            <a:ext cx="6400800" cy="475488"/>
          </a:xfrm>
          <a:prstGeom prst="roundRect">
            <a:avLst>
              <a:gd name="adj" fmla="val 19231"/>
            </a:avLst>
          </a:prstGeom>
          <a:solidFill>
            <a:schemeClr val="bg1"/>
          </a:solidFill>
          <a:ln w="9525">
            <a:solidFill>
              <a:srgbClr val="E2E2E8"/>
            </a:solidFill>
            <a:prstDash val="solid"/>
          </a:ln>
        </p:spPr>
      </p:sp>
      <p:pic>
        <p:nvPicPr>
          <p:cNvPr id="17" name="Image 3" descr="Condition already true">    </p:cNvPr>
          <p:cNvPicPr>
            <a:picLocks noChangeAspect="1"/>
          </p:cNvPicPr>
          <p:nvPr/>
        </p:nvPicPr>
        <p:blipFill>
          <a:blip r:embed="rId4"/>
          <a:stretch>
            <a:fillRect/>
          </a:stretch>
        </p:blipFill>
        <p:spPr>
          <a:xfrm>
            <a:off x="731520" y="3630168"/>
            <a:ext cx="274320" cy="274320"/>
          </a:xfrm>
          <a:prstGeom prst="rect">
            <a:avLst/>
          </a:prstGeom>
        </p:spPr>
      </p:pic>
      <p:sp>
        <p:nvSpPr>
          <p:cNvPr id="18" name="Text 12"/>
          <p:cNvSpPr txBox="1"/>
          <p:nvPr/>
        </p:nvSpPr>
        <p:spPr>
          <a:xfrm>
            <a:off x="1143000" y="3529584"/>
            <a:ext cx="4023360" cy="475488"/>
          </a:xfrm>
          <a:prstGeom prst="rect">
            <a:avLst/>
          </a:prstGeom>
          <a:noFill/>
          <a:ln/>
        </p:spPr>
        <p:txBody>
          <a:bodyPr wrap="square" lIns="0" tIns="0" rIns="0" bIns="0" rtlCol="0" anchor="ctr"/>
          <a:lstStyle/>
          <a:p>
            <a:pPr indent="0" marL="0">
              <a:buNone/>
            </a:pPr>
            <a:r>
              <a:rPr lang="en-US" sz="1700" dirty="0">
                <a:solidFill>
                  <a:schemeClr val="tx1"/>
                </a:solidFill>
              </a:rPr>
              <a:t>Controls the function's code</a:t>
            </a:r>
            <a:endParaRPr lang="en-US" sz="1700" dirty="0"/>
          </a:p>
        </p:txBody>
      </p:sp>
      <p:sp>
        <p:nvSpPr>
          <p:cNvPr id="19" name="Text 13"/>
          <p:cNvSpPr txBox="1"/>
          <p:nvPr/>
        </p:nvSpPr>
        <p:spPr>
          <a:xfrm>
            <a:off x="5120640" y="3529584"/>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20" name="Condition 5"/>
          <p:cNvSpPr/>
          <p:nvPr/>
        </p:nvSpPr>
        <p:spPr>
          <a:xfrm>
            <a:off x="548640" y="4096512"/>
            <a:ext cx="6400800" cy="475488"/>
          </a:xfrm>
          <a:prstGeom prst="roundRect">
            <a:avLst>
              <a:gd name="adj" fmla="val 19231"/>
            </a:avLst>
          </a:prstGeom>
          <a:solidFill>
            <a:schemeClr val="bg1"/>
          </a:solidFill>
          <a:ln w="9525">
            <a:solidFill>
              <a:srgbClr val="E2E2E8"/>
            </a:solidFill>
            <a:prstDash val="solid"/>
          </a:ln>
        </p:spPr>
      </p:sp>
      <p:pic>
        <p:nvPicPr>
          <p:cNvPr id="21" name="Image 4" descr="Condition already true">    </p:cNvPr>
          <p:cNvPicPr>
            <a:picLocks noChangeAspect="1"/>
          </p:cNvPicPr>
          <p:nvPr/>
        </p:nvPicPr>
        <p:blipFill>
          <a:blip r:embed="rId5"/>
          <a:stretch>
            <a:fillRect/>
          </a:stretch>
        </p:blipFill>
        <p:spPr>
          <a:xfrm>
            <a:off x="731520" y="4197096"/>
            <a:ext cx="274320" cy="274320"/>
          </a:xfrm>
          <a:prstGeom prst="rect">
            <a:avLst/>
          </a:prstGeom>
        </p:spPr>
      </p:pic>
      <p:sp>
        <p:nvSpPr>
          <p:cNvPr id="22" name="Text 15"/>
          <p:cNvSpPr txBox="1"/>
          <p:nvPr/>
        </p:nvSpPr>
        <p:spPr>
          <a:xfrm>
            <a:off x="1143000" y="4096512"/>
            <a:ext cx="4023360" cy="475488"/>
          </a:xfrm>
          <a:prstGeom prst="rect">
            <a:avLst/>
          </a:prstGeom>
          <a:noFill/>
          <a:ln/>
        </p:spPr>
        <p:txBody>
          <a:bodyPr wrap="square" lIns="0" tIns="0" rIns="0" bIns="0" rtlCol="0" anchor="ctr"/>
          <a:lstStyle/>
          <a:p>
            <a:pPr indent="0" marL="0">
              <a:buNone/>
            </a:pPr>
            <a:r>
              <a:rPr lang="en-US" sz="1700" dirty="0">
                <a:solidFill>
                  <a:schemeClr val="tx1"/>
                </a:solidFill>
              </a:rPr>
              <a:t>Admin role trusts Lambda</a:t>
            </a:r>
            <a:endParaRPr lang="en-US" sz="1700" dirty="0"/>
          </a:p>
        </p:txBody>
      </p:sp>
      <p:sp>
        <p:nvSpPr>
          <p:cNvPr id="23" name="Text 16"/>
          <p:cNvSpPr txBox="1"/>
          <p:nvPr/>
        </p:nvSpPr>
        <p:spPr>
          <a:xfrm>
            <a:off x="5120640" y="4096512"/>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24" name="Condition 6"/>
          <p:cNvSpPr/>
          <p:nvPr/>
        </p:nvSpPr>
        <p:spPr>
          <a:xfrm>
            <a:off x="548640" y="4663440"/>
            <a:ext cx="6400800" cy="475488"/>
          </a:xfrm>
          <a:prstGeom prst="roundRect">
            <a:avLst>
              <a:gd name="adj" fmla="val 19231"/>
            </a:avLst>
          </a:prstGeom>
          <a:solidFill>
            <a:schemeClr val="bg1"/>
          </a:solidFill>
          <a:ln w="9525">
            <a:solidFill>
              <a:srgbClr val="E2E2E8"/>
            </a:solidFill>
            <a:prstDash val="solid"/>
          </a:ln>
        </p:spPr>
      </p:sp>
      <p:pic>
        <p:nvPicPr>
          <p:cNvPr id="25" name="Image 5" descr="Condition already true">    </p:cNvPr>
          <p:cNvPicPr>
            <a:picLocks noChangeAspect="1"/>
          </p:cNvPicPr>
          <p:nvPr/>
        </p:nvPicPr>
        <p:blipFill>
          <a:blip r:embed="rId6"/>
          <a:stretch>
            <a:fillRect/>
          </a:stretch>
        </p:blipFill>
        <p:spPr>
          <a:xfrm>
            <a:off x="731520" y="4764024"/>
            <a:ext cx="274320" cy="274320"/>
          </a:xfrm>
          <a:prstGeom prst="rect">
            <a:avLst/>
          </a:prstGeom>
        </p:spPr>
      </p:pic>
      <p:sp>
        <p:nvSpPr>
          <p:cNvPr id="26" name="Text 18"/>
          <p:cNvSpPr txBox="1"/>
          <p:nvPr/>
        </p:nvSpPr>
        <p:spPr>
          <a:xfrm>
            <a:off x="1143000" y="4663440"/>
            <a:ext cx="4023360" cy="475488"/>
          </a:xfrm>
          <a:prstGeom prst="rect">
            <a:avLst/>
          </a:prstGeom>
          <a:noFill/>
          <a:ln/>
        </p:spPr>
        <p:txBody>
          <a:bodyPr wrap="square" lIns="0" tIns="0" rIns="0" bIns="0" rtlCol="0" anchor="ctr"/>
          <a:lstStyle/>
          <a:p>
            <a:pPr indent="0" marL="0">
              <a:buNone/>
            </a:pPr>
            <a:r>
              <a:rPr lang="en-US" sz="1700" dirty="0">
                <a:solidFill>
                  <a:schemeClr val="tx1"/>
                </a:solidFill>
              </a:rPr>
              <a:t>All in one AWS account</a:t>
            </a:r>
            <a:endParaRPr lang="en-US" sz="1700" dirty="0"/>
          </a:p>
        </p:txBody>
      </p:sp>
      <p:sp>
        <p:nvSpPr>
          <p:cNvPr id="27" name="Text 19"/>
          <p:cNvSpPr txBox="1"/>
          <p:nvPr/>
        </p:nvSpPr>
        <p:spPr>
          <a:xfrm>
            <a:off x="5120640" y="4663440"/>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28" name="Condition 7"/>
          <p:cNvSpPr/>
          <p:nvPr/>
        </p:nvSpPr>
        <p:spPr>
          <a:xfrm>
            <a:off x="548640" y="5230368"/>
            <a:ext cx="6400800" cy="475488"/>
          </a:xfrm>
          <a:prstGeom prst="roundRect">
            <a:avLst>
              <a:gd name="adj" fmla="val 19231"/>
            </a:avLst>
          </a:prstGeom>
          <a:solidFill>
            <a:schemeClr val="bg1"/>
          </a:solidFill>
          <a:ln w="9525">
            <a:solidFill>
              <a:srgbClr val="E2E2E8"/>
            </a:solidFill>
            <a:prstDash val="solid"/>
          </a:ln>
        </p:spPr>
      </p:sp>
      <p:pic>
        <p:nvPicPr>
          <p:cNvPr id="29" name="Image 6" descr="Condition already true">    </p:cNvPr>
          <p:cNvPicPr>
            <a:picLocks noChangeAspect="1"/>
          </p:cNvPicPr>
          <p:nvPr/>
        </p:nvPicPr>
        <p:blipFill>
          <a:blip r:embed="rId7"/>
          <a:stretch>
            <a:fillRect/>
          </a:stretch>
        </p:blipFill>
        <p:spPr>
          <a:xfrm>
            <a:off x="731520" y="5330952"/>
            <a:ext cx="274320" cy="274320"/>
          </a:xfrm>
          <a:prstGeom prst="rect">
            <a:avLst/>
          </a:prstGeom>
        </p:spPr>
      </p:pic>
      <p:sp>
        <p:nvSpPr>
          <p:cNvPr id="30" name="Text 21"/>
          <p:cNvSpPr txBox="1"/>
          <p:nvPr/>
        </p:nvSpPr>
        <p:spPr>
          <a:xfrm>
            <a:off x="1143000" y="5230368"/>
            <a:ext cx="4023360" cy="475488"/>
          </a:xfrm>
          <a:prstGeom prst="rect">
            <a:avLst/>
          </a:prstGeom>
          <a:noFill/>
          <a:ln/>
        </p:spPr>
        <p:txBody>
          <a:bodyPr wrap="square" lIns="0" tIns="0" rIns="0" bIns="0" rtlCol="0" anchor="ctr"/>
          <a:lstStyle/>
          <a:p>
            <a:pPr indent="0" marL="0">
              <a:buNone/>
            </a:pPr>
            <a:r>
              <a:rPr lang="en-US" sz="1700" dirty="0">
                <a:solidFill>
                  <a:schemeClr val="tx1"/>
                </a:solidFill>
              </a:rPr>
              <a:t>No unresolved restrictions</a:t>
            </a:r>
            <a:endParaRPr lang="en-US" sz="1700" dirty="0"/>
          </a:p>
        </p:txBody>
      </p:sp>
      <p:sp>
        <p:nvSpPr>
          <p:cNvPr id="31" name="Text 22"/>
          <p:cNvSpPr txBox="1"/>
          <p:nvPr/>
        </p:nvSpPr>
        <p:spPr>
          <a:xfrm>
            <a:off x="5120640" y="5230368"/>
            <a:ext cx="1645920" cy="475488"/>
          </a:xfrm>
          <a:prstGeom prst="rect">
            <a:avLst/>
          </a:prstGeom>
          <a:noFill/>
          <a:ln/>
        </p:spPr>
        <p:txBody>
          <a:bodyPr wrap="square" lIns="0" tIns="0" rIns="0" bIns="0" rtlCol="0" anchor="ctr"/>
          <a:lstStyle/>
          <a:p>
            <a:pPr algn="r" indent="0" marL="0">
              <a:buNone/>
            </a:pPr>
            <a:r>
              <a:rPr lang="en-US" sz="1400" dirty="0">
                <a:solidFill>
                  <a:schemeClr val="accent6"/>
                </a:solidFill>
              </a:rPr>
              <a:t>already true</a:t>
            </a:r>
            <a:endParaRPr lang="en-US" sz="1400" dirty="0"/>
          </a:p>
        </p:txBody>
      </p:sp>
      <p:sp>
        <p:nvSpPr>
          <p:cNvPr id="32" name="Verdict card"/>
          <p:cNvSpPr/>
          <p:nvPr/>
        </p:nvSpPr>
        <p:spPr>
          <a:xfrm>
            <a:off x="7315200" y="1828800"/>
            <a:ext cx="4325112" cy="3877056"/>
          </a:xfrm>
          <a:prstGeom prst="roundRect">
            <a:avLst>
              <a:gd name="adj" fmla="val 3302"/>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33" name="Text 24"/>
          <p:cNvSpPr txBox="1"/>
          <p:nvPr/>
        </p:nvSpPr>
        <p:spPr>
          <a:xfrm>
            <a:off x="7635240" y="2057400"/>
            <a:ext cx="3749040" cy="1005840"/>
          </a:xfrm>
          <a:prstGeom prst="rect">
            <a:avLst/>
          </a:prstGeom>
          <a:noFill/>
          <a:ln/>
        </p:spPr>
        <p:txBody>
          <a:bodyPr wrap="square" lIns="0" tIns="0" rIns="0" bIns="0" rtlCol="0" anchor="ctr"/>
          <a:lstStyle/>
          <a:p>
            <a:pPr indent="0" marL="0">
              <a:buNone/>
            </a:pPr>
            <a:r>
              <a:rPr lang="en-US" sz="6600" b="1" dirty="0">
                <a:solidFill>
                  <a:schemeClr val="tx1"/>
                </a:solidFill>
              </a:rPr>
              <a:t>7 of 7</a:t>
            </a:r>
            <a:endParaRPr lang="en-US" sz="6600" dirty="0"/>
          </a:p>
        </p:txBody>
      </p:sp>
      <p:sp>
        <p:nvSpPr>
          <p:cNvPr id="34" name="Text 25"/>
          <p:cNvSpPr txBox="1"/>
          <p:nvPr/>
        </p:nvSpPr>
        <p:spPr>
          <a:xfrm>
            <a:off x="7635240" y="3090672"/>
            <a:ext cx="3749040" cy="640080"/>
          </a:xfrm>
          <a:prstGeom prst="rect">
            <a:avLst/>
          </a:prstGeom>
          <a:noFill/>
          <a:ln/>
        </p:spPr>
        <p:txBody>
          <a:bodyPr wrap="square" lIns="0" tIns="0" rIns="0" bIns="0" rtlCol="0" anchor="t"/>
          <a:lstStyle/>
          <a:p>
            <a:pPr indent="0" marL="0">
              <a:buNone/>
            </a:pPr>
            <a:r>
              <a:rPr lang="en-US" sz="1800" dirty="0">
                <a:solidFill>
                  <a:schemeClr val="accent6"/>
                </a:solidFill>
              </a:rPr>
              <a:t>conditions hold, so the route is open</a:t>
            </a:r>
            <a:endParaRPr lang="en-US" sz="1800" dirty="0"/>
          </a:p>
        </p:txBody>
      </p:sp>
      <p:sp>
        <p:nvSpPr>
          <p:cNvPr id="35" name="Text 26"/>
          <p:cNvSpPr txBox="1"/>
          <p:nvPr/>
        </p:nvSpPr>
        <p:spPr>
          <a:xfrm>
            <a:off x="7635240" y="3886200"/>
            <a:ext cx="3749040" cy="1645920"/>
          </a:xfrm>
          <a:prstGeom prst="rect">
            <a:avLst/>
          </a:prstGeom>
          <a:noFill/>
          <a:ln/>
        </p:spPr>
        <p:txBody>
          <a:bodyPr wrap="square" lIns="0" tIns="0" rIns="0" bIns="0" rtlCol="0" anchor="t"/>
          <a:lstStyle/>
          <a:p>
            <a:pPr indent="0" marL="0">
              <a:spcAft>
                <a:spcPts val="1000"/>
              </a:spcAft>
              <a:buNone/>
            </a:pPr>
            <a:r>
              <a:rPr lang="en-US" sz="1700" dirty="0">
                <a:solidFill>
                  <a:schemeClr val="tx2"/>
                </a:solidFill>
              </a:rPr>
              <a:t>Six were already true. One change completed the set.</a:t>
            </a:r>
            <a:endParaRPr lang="en-US" sz="1700" dirty="0"/>
          </a:p>
          <a:p>
            <a:pPr indent="0" marL="0">
              <a:spcAft>
                <a:spcPts val="1000"/>
              </a:spcAft>
              <a:buNone/>
            </a:pPr>
            <a:r>
              <a:rPr lang="en-US" sz="1700" b="1" dirty="0">
                <a:solidFill>
                  <a:schemeClr val="tx1"/>
                </a:solidFill>
              </a:rPr>
              <a:t>AttackGraph AI checks the whole combination, not just the changed line.</a:t>
            </a:r>
            <a:endParaRPr lang="en-US" sz="1700" dirty="0"/>
          </a:p>
        </p:txBody>
      </p:sp>
    </p:spTree>
  </p:cSld>
  <p:clrMapOvr>
    <a:masterClrMapping/>
  </p:clrMapOvr>
  <p:transition spd="med" advTm="120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What AttackGraph AI does</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Four steps, before anything is deployed</a:t>
            </a:r>
            <a:endParaRPr lang="en-US" sz="3600" dirty="0"/>
          </a:p>
        </p:txBody>
      </p:sp>
      <p:sp>
        <p:nvSpPr>
          <p:cNvPr id="4" name="Step 1"/>
          <p:cNvSpPr/>
          <p:nvPr/>
        </p:nvSpPr>
        <p:spPr>
          <a:xfrm>
            <a:off x="548640" y="1874520"/>
            <a:ext cx="2514600" cy="3154680"/>
          </a:xfrm>
          <a:prstGeom prst="roundRect">
            <a:avLst>
              <a:gd name="adj" fmla="val 5091"/>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Compare circle"/>
          <p:cNvSpPr/>
          <p:nvPr/>
        </p:nvSpPr>
        <p:spPr>
          <a:xfrm>
            <a:off x="822960" y="2148840"/>
            <a:ext cx="731520" cy="731520"/>
          </a:xfrm>
          <a:prstGeom prst="ellipse">
            <a:avLst/>
          </a:prstGeom>
          <a:solidFill>
            <a:srgbClr val="EEF0FF"/>
          </a:solidFill>
          <a:ln/>
        </p:spPr>
      </p:sp>
      <p:pic>
        <p:nvPicPr>
          <p:cNvPr id="6" name="Compare icon" descr="Compare">    </p:cNvPr>
          <p:cNvPicPr>
            <a:picLocks noChangeAspect="1"/>
          </p:cNvPicPr>
          <p:nvPr/>
        </p:nvPicPr>
        <p:blipFill>
          <a:blip r:embed="rId1"/>
          <a:stretch>
            <a:fillRect/>
          </a:stretch>
        </p:blipFill>
        <p:spPr>
          <a:xfrm>
            <a:off x="983894" y="2309774"/>
            <a:ext cx="409651" cy="409651"/>
          </a:xfrm>
          <a:prstGeom prst="rect">
            <a:avLst/>
          </a:prstGeom>
        </p:spPr>
      </p:pic>
      <p:sp>
        <p:nvSpPr>
          <p:cNvPr id="7" name="Text 4"/>
          <p:cNvSpPr txBox="1"/>
          <p:nvPr/>
        </p:nvSpPr>
        <p:spPr>
          <a:xfrm>
            <a:off x="1737360" y="2148840"/>
            <a:ext cx="1188720" cy="731520"/>
          </a:xfrm>
          <a:prstGeom prst="rect">
            <a:avLst/>
          </a:prstGeom>
          <a:noFill/>
          <a:ln/>
        </p:spPr>
        <p:txBody>
          <a:bodyPr wrap="square" lIns="0" tIns="0" rIns="0" bIns="0" rtlCol="0" anchor="ctr"/>
          <a:lstStyle/>
          <a:p>
            <a:pPr indent="0" marL="0">
              <a:buNone/>
            </a:pPr>
            <a:r>
              <a:rPr lang="en-US" sz="1300" b="1" spc="100" kern="0" dirty="0">
                <a:solidFill>
                  <a:schemeClr val="accent6"/>
                </a:solidFill>
              </a:rPr>
              <a:t>STEP 1</a:t>
            </a:r>
            <a:endParaRPr lang="en-US" sz="1300" dirty="0"/>
          </a:p>
        </p:txBody>
      </p:sp>
      <p:sp>
        <p:nvSpPr>
          <p:cNvPr id="8" name="Text 5"/>
          <p:cNvSpPr txBox="1"/>
          <p:nvPr/>
        </p:nvSpPr>
        <p:spPr>
          <a:xfrm>
            <a:off x="822960" y="3108960"/>
            <a:ext cx="2057400" cy="438912"/>
          </a:xfrm>
          <a:prstGeom prst="rect">
            <a:avLst/>
          </a:prstGeom>
          <a:noFill/>
          <a:ln/>
        </p:spPr>
        <p:txBody>
          <a:bodyPr wrap="square" lIns="0" tIns="0" rIns="0" bIns="0" rtlCol="0" anchor="t"/>
          <a:lstStyle/>
          <a:p>
            <a:pPr indent="0" marL="0">
              <a:buNone/>
            </a:pPr>
            <a:r>
              <a:rPr lang="en-US" sz="2200" b="1" dirty="0">
                <a:solidFill>
                  <a:schemeClr val="tx1"/>
                </a:solidFill>
              </a:rPr>
              <a:t>Compare</a:t>
            </a:r>
            <a:endParaRPr lang="en-US" sz="2200" dirty="0"/>
          </a:p>
        </p:txBody>
      </p:sp>
      <p:sp>
        <p:nvSpPr>
          <p:cNvPr id="9" name="Text 6"/>
          <p:cNvSpPr txBox="1"/>
          <p:nvPr/>
        </p:nvSpPr>
        <p:spPr>
          <a:xfrm>
            <a:off x="822960" y="3611880"/>
            <a:ext cx="2057400" cy="1280160"/>
          </a:xfrm>
          <a:prstGeom prst="rect">
            <a:avLst/>
          </a:prstGeom>
          <a:noFill/>
          <a:ln/>
        </p:spPr>
        <p:txBody>
          <a:bodyPr wrap="square" lIns="0" tIns="0" rIns="0" bIns="0" rtlCol="0" anchor="t"/>
          <a:lstStyle/>
          <a:p>
            <a:pPr indent="0" marL="0">
              <a:buNone/>
            </a:pPr>
            <a:r>
              <a:rPr lang="en-US" sz="1600" dirty="0">
                <a:solidFill>
                  <a:schemeClr val="tx2"/>
                </a:solidFill>
              </a:rPr>
              <a:t>Reads the configuration before and after the change.</a:t>
            </a:r>
            <a:endParaRPr lang="en-US" sz="1600" dirty="0"/>
          </a:p>
        </p:txBody>
      </p:sp>
      <p:sp>
        <p:nvSpPr>
          <p:cNvPr id="10" name="Step arrow"/>
          <p:cNvSpPr/>
          <p:nvPr/>
        </p:nvSpPr>
        <p:spPr>
          <a:xfrm>
            <a:off x="3108960" y="3456432"/>
            <a:ext cx="256032" cy="0"/>
          </a:xfrm>
          <a:prstGeom prst="line">
            <a:avLst/>
          </a:prstGeom>
          <a:noFill/>
          <a:ln w="25400">
            <a:solidFill>
              <a:schemeClr val="accent1"/>
            </a:solidFill>
            <a:prstDash val="solid"/>
            <a:tailEnd type="triangle"/>
          </a:ln>
        </p:spPr>
      </p:sp>
      <p:sp>
        <p:nvSpPr>
          <p:cNvPr id="11" name="Step 2"/>
          <p:cNvSpPr/>
          <p:nvPr/>
        </p:nvSpPr>
        <p:spPr>
          <a:xfrm>
            <a:off x="3410712" y="1874520"/>
            <a:ext cx="2514600" cy="3154680"/>
          </a:xfrm>
          <a:prstGeom prst="roundRect">
            <a:avLst>
              <a:gd name="adj" fmla="val 5091"/>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2" name="Find routes circle"/>
          <p:cNvSpPr/>
          <p:nvPr/>
        </p:nvSpPr>
        <p:spPr>
          <a:xfrm>
            <a:off x="3685032" y="2148840"/>
            <a:ext cx="731520" cy="731520"/>
          </a:xfrm>
          <a:prstGeom prst="ellipse">
            <a:avLst/>
          </a:prstGeom>
          <a:solidFill>
            <a:srgbClr val="EEF0FF"/>
          </a:solidFill>
          <a:ln/>
        </p:spPr>
      </p:sp>
      <p:pic>
        <p:nvPicPr>
          <p:cNvPr id="13" name="Find routes icon" descr="Find routes">    </p:cNvPr>
          <p:cNvPicPr>
            <a:picLocks noChangeAspect="1"/>
          </p:cNvPicPr>
          <p:nvPr/>
        </p:nvPicPr>
        <p:blipFill>
          <a:blip r:embed="rId2"/>
          <a:stretch>
            <a:fillRect/>
          </a:stretch>
        </p:blipFill>
        <p:spPr>
          <a:xfrm>
            <a:off x="3845966" y="2309774"/>
            <a:ext cx="409651" cy="409651"/>
          </a:xfrm>
          <a:prstGeom prst="rect">
            <a:avLst/>
          </a:prstGeom>
        </p:spPr>
      </p:pic>
      <p:sp>
        <p:nvSpPr>
          <p:cNvPr id="14" name="Text 10"/>
          <p:cNvSpPr txBox="1"/>
          <p:nvPr/>
        </p:nvSpPr>
        <p:spPr>
          <a:xfrm>
            <a:off x="4599432" y="2148840"/>
            <a:ext cx="1188720" cy="731520"/>
          </a:xfrm>
          <a:prstGeom prst="rect">
            <a:avLst/>
          </a:prstGeom>
          <a:noFill/>
          <a:ln/>
        </p:spPr>
        <p:txBody>
          <a:bodyPr wrap="square" lIns="0" tIns="0" rIns="0" bIns="0" rtlCol="0" anchor="ctr"/>
          <a:lstStyle/>
          <a:p>
            <a:pPr indent="0" marL="0">
              <a:buNone/>
            </a:pPr>
            <a:r>
              <a:rPr lang="en-US" sz="1300" b="1" spc="100" kern="0" dirty="0">
                <a:solidFill>
                  <a:schemeClr val="accent6"/>
                </a:solidFill>
              </a:rPr>
              <a:t>STEP 2</a:t>
            </a:r>
            <a:endParaRPr lang="en-US" sz="1300" dirty="0"/>
          </a:p>
        </p:txBody>
      </p:sp>
      <p:sp>
        <p:nvSpPr>
          <p:cNvPr id="15" name="Text 11"/>
          <p:cNvSpPr txBox="1"/>
          <p:nvPr/>
        </p:nvSpPr>
        <p:spPr>
          <a:xfrm>
            <a:off x="3685032" y="3108960"/>
            <a:ext cx="2057400" cy="438912"/>
          </a:xfrm>
          <a:prstGeom prst="rect">
            <a:avLst/>
          </a:prstGeom>
          <a:noFill/>
          <a:ln/>
        </p:spPr>
        <p:txBody>
          <a:bodyPr wrap="square" lIns="0" tIns="0" rIns="0" bIns="0" rtlCol="0" anchor="t"/>
          <a:lstStyle/>
          <a:p>
            <a:pPr indent="0" marL="0">
              <a:buNone/>
            </a:pPr>
            <a:r>
              <a:rPr lang="en-US" sz="2200" b="1" dirty="0">
                <a:solidFill>
                  <a:schemeClr val="tx1"/>
                </a:solidFill>
              </a:rPr>
              <a:t>Find routes</a:t>
            </a:r>
            <a:endParaRPr lang="en-US" sz="2200" dirty="0"/>
          </a:p>
        </p:txBody>
      </p:sp>
      <p:sp>
        <p:nvSpPr>
          <p:cNvPr id="16" name="Text 12"/>
          <p:cNvSpPr txBox="1"/>
          <p:nvPr/>
        </p:nvSpPr>
        <p:spPr>
          <a:xfrm>
            <a:off x="3685032" y="3611880"/>
            <a:ext cx="2057400" cy="1280160"/>
          </a:xfrm>
          <a:prstGeom prst="rect">
            <a:avLst/>
          </a:prstGeom>
          <a:noFill/>
          <a:ln/>
        </p:spPr>
        <p:txBody>
          <a:bodyPr wrap="square" lIns="0" tIns="0" rIns="0" bIns="0" rtlCol="0" anchor="t"/>
          <a:lstStyle/>
          <a:p>
            <a:pPr indent="0" marL="0">
              <a:buNone/>
            </a:pPr>
            <a:r>
              <a:rPr lang="en-US" sz="1600" dirty="0">
                <a:solidFill>
                  <a:schemeClr val="tx2"/>
                </a:solidFill>
              </a:rPr>
              <a:t>Finds every new route to an admin role or sensitive data.</a:t>
            </a:r>
            <a:endParaRPr lang="en-US" sz="1600" dirty="0"/>
          </a:p>
        </p:txBody>
      </p:sp>
      <p:sp>
        <p:nvSpPr>
          <p:cNvPr id="17" name="Step arrow"/>
          <p:cNvSpPr/>
          <p:nvPr/>
        </p:nvSpPr>
        <p:spPr>
          <a:xfrm>
            <a:off x="5971032" y="3456432"/>
            <a:ext cx="256032" cy="0"/>
          </a:xfrm>
          <a:prstGeom prst="line">
            <a:avLst/>
          </a:prstGeom>
          <a:noFill/>
          <a:ln w="25400">
            <a:solidFill>
              <a:schemeClr val="accent1"/>
            </a:solidFill>
            <a:prstDash val="solid"/>
            <a:tailEnd type="triangle"/>
          </a:ln>
        </p:spPr>
      </p:sp>
      <p:sp>
        <p:nvSpPr>
          <p:cNvPr id="18" name="Step 3"/>
          <p:cNvSpPr/>
          <p:nvPr/>
        </p:nvSpPr>
        <p:spPr>
          <a:xfrm>
            <a:off x="6272784" y="1874520"/>
            <a:ext cx="2514600" cy="3154680"/>
          </a:xfrm>
          <a:prstGeom prst="roundRect">
            <a:avLst>
              <a:gd name="adj" fmla="val 5091"/>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9" name="Explain circle"/>
          <p:cNvSpPr/>
          <p:nvPr/>
        </p:nvSpPr>
        <p:spPr>
          <a:xfrm>
            <a:off x="6547104" y="2148840"/>
            <a:ext cx="731520" cy="731520"/>
          </a:xfrm>
          <a:prstGeom prst="ellipse">
            <a:avLst/>
          </a:prstGeom>
          <a:solidFill>
            <a:srgbClr val="EEF0FF"/>
          </a:solidFill>
          <a:ln/>
        </p:spPr>
      </p:sp>
      <p:pic>
        <p:nvPicPr>
          <p:cNvPr id="20" name="Explain icon" descr="Explain">    </p:cNvPr>
          <p:cNvPicPr>
            <a:picLocks noChangeAspect="1"/>
          </p:cNvPicPr>
          <p:nvPr/>
        </p:nvPicPr>
        <p:blipFill>
          <a:blip r:embed="rId3"/>
          <a:stretch>
            <a:fillRect/>
          </a:stretch>
        </p:blipFill>
        <p:spPr>
          <a:xfrm>
            <a:off x="6708038" y="2309774"/>
            <a:ext cx="409651" cy="409651"/>
          </a:xfrm>
          <a:prstGeom prst="rect">
            <a:avLst/>
          </a:prstGeom>
        </p:spPr>
      </p:pic>
      <p:sp>
        <p:nvSpPr>
          <p:cNvPr id="21" name="Text 16"/>
          <p:cNvSpPr txBox="1"/>
          <p:nvPr/>
        </p:nvSpPr>
        <p:spPr>
          <a:xfrm>
            <a:off x="7461504" y="2148840"/>
            <a:ext cx="1188720" cy="731520"/>
          </a:xfrm>
          <a:prstGeom prst="rect">
            <a:avLst/>
          </a:prstGeom>
          <a:noFill/>
          <a:ln/>
        </p:spPr>
        <p:txBody>
          <a:bodyPr wrap="square" lIns="0" tIns="0" rIns="0" bIns="0" rtlCol="0" anchor="ctr"/>
          <a:lstStyle/>
          <a:p>
            <a:pPr indent="0" marL="0">
              <a:buNone/>
            </a:pPr>
            <a:r>
              <a:rPr lang="en-US" sz="1300" b="1" spc="100" kern="0" dirty="0">
                <a:solidFill>
                  <a:schemeClr val="accent6"/>
                </a:solidFill>
              </a:rPr>
              <a:t>STEP 3</a:t>
            </a:r>
            <a:endParaRPr lang="en-US" sz="1300" dirty="0"/>
          </a:p>
        </p:txBody>
      </p:sp>
      <p:sp>
        <p:nvSpPr>
          <p:cNvPr id="22" name="Text 17"/>
          <p:cNvSpPr txBox="1"/>
          <p:nvPr/>
        </p:nvSpPr>
        <p:spPr>
          <a:xfrm>
            <a:off x="6547104" y="3108960"/>
            <a:ext cx="2057400" cy="438912"/>
          </a:xfrm>
          <a:prstGeom prst="rect">
            <a:avLst/>
          </a:prstGeom>
          <a:noFill/>
          <a:ln/>
        </p:spPr>
        <p:txBody>
          <a:bodyPr wrap="square" lIns="0" tIns="0" rIns="0" bIns="0" rtlCol="0" anchor="t"/>
          <a:lstStyle/>
          <a:p>
            <a:pPr indent="0" marL="0">
              <a:buNone/>
            </a:pPr>
            <a:r>
              <a:rPr lang="en-US" sz="2200" b="1" dirty="0">
                <a:solidFill>
                  <a:schemeClr val="tx1"/>
                </a:solidFill>
              </a:rPr>
              <a:t>Explain</a:t>
            </a:r>
            <a:endParaRPr lang="en-US" sz="2200" dirty="0"/>
          </a:p>
        </p:txBody>
      </p:sp>
      <p:sp>
        <p:nvSpPr>
          <p:cNvPr id="23" name="Text 18"/>
          <p:cNvSpPr txBox="1"/>
          <p:nvPr/>
        </p:nvSpPr>
        <p:spPr>
          <a:xfrm>
            <a:off x="6547104" y="3611880"/>
            <a:ext cx="2057400" cy="1280160"/>
          </a:xfrm>
          <a:prstGeom prst="rect">
            <a:avLst/>
          </a:prstGeom>
          <a:noFill/>
          <a:ln/>
        </p:spPr>
        <p:txBody>
          <a:bodyPr wrap="square" lIns="0" tIns="0" rIns="0" bIns="0" rtlCol="0" anchor="t"/>
          <a:lstStyle/>
          <a:p>
            <a:pPr indent="0" marL="0">
              <a:buNone/>
            </a:pPr>
            <a:r>
              <a:rPr lang="en-US" sz="1600" dirty="0">
                <a:solidFill>
                  <a:schemeClr val="tx2"/>
                </a:solidFill>
              </a:rPr>
              <a:t>Amazon Bedrock describes the route in plain English.</a:t>
            </a:r>
            <a:endParaRPr lang="en-US" sz="1600" dirty="0"/>
          </a:p>
        </p:txBody>
      </p:sp>
      <p:sp>
        <p:nvSpPr>
          <p:cNvPr id="24" name="Step arrow"/>
          <p:cNvSpPr/>
          <p:nvPr/>
        </p:nvSpPr>
        <p:spPr>
          <a:xfrm>
            <a:off x="8833104" y="3456432"/>
            <a:ext cx="256032" cy="0"/>
          </a:xfrm>
          <a:prstGeom prst="line">
            <a:avLst/>
          </a:prstGeom>
          <a:noFill/>
          <a:ln w="25400">
            <a:solidFill>
              <a:schemeClr val="accent1"/>
            </a:solidFill>
            <a:prstDash val="solid"/>
            <a:tailEnd type="triangle"/>
          </a:ln>
        </p:spPr>
      </p:sp>
      <p:sp>
        <p:nvSpPr>
          <p:cNvPr id="25" name="Step 4"/>
          <p:cNvSpPr/>
          <p:nvPr/>
        </p:nvSpPr>
        <p:spPr>
          <a:xfrm>
            <a:off x="9134856" y="1874520"/>
            <a:ext cx="2514600" cy="3154680"/>
          </a:xfrm>
          <a:prstGeom prst="roundRect">
            <a:avLst>
              <a:gd name="adj" fmla="val 5091"/>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26" name="Test the fix circle"/>
          <p:cNvSpPr/>
          <p:nvPr/>
        </p:nvSpPr>
        <p:spPr>
          <a:xfrm>
            <a:off x="9409176" y="2148840"/>
            <a:ext cx="731520" cy="731520"/>
          </a:xfrm>
          <a:prstGeom prst="ellipse">
            <a:avLst/>
          </a:prstGeom>
          <a:solidFill>
            <a:srgbClr val="EEF0FF"/>
          </a:solidFill>
          <a:ln/>
        </p:spPr>
      </p:sp>
      <p:pic>
        <p:nvPicPr>
          <p:cNvPr id="27" name="Test the fix icon" descr="Test the fix">    </p:cNvPr>
          <p:cNvPicPr>
            <a:picLocks noChangeAspect="1"/>
          </p:cNvPicPr>
          <p:nvPr/>
        </p:nvPicPr>
        <p:blipFill>
          <a:blip r:embed="rId4"/>
          <a:stretch>
            <a:fillRect/>
          </a:stretch>
        </p:blipFill>
        <p:spPr>
          <a:xfrm>
            <a:off x="9570110" y="2309774"/>
            <a:ext cx="409651" cy="409651"/>
          </a:xfrm>
          <a:prstGeom prst="rect">
            <a:avLst/>
          </a:prstGeom>
        </p:spPr>
      </p:pic>
      <p:sp>
        <p:nvSpPr>
          <p:cNvPr id="28" name="Text 22"/>
          <p:cNvSpPr txBox="1"/>
          <p:nvPr/>
        </p:nvSpPr>
        <p:spPr>
          <a:xfrm>
            <a:off x="10323576" y="2148840"/>
            <a:ext cx="1188720" cy="731520"/>
          </a:xfrm>
          <a:prstGeom prst="rect">
            <a:avLst/>
          </a:prstGeom>
          <a:noFill/>
          <a:ln/>
        </p:spPr>
        <p:txBody>
          <a:bodyPr wrap="square" lIns="0" tIns="0" rIns="0" bIns="0" rtlCol="0" anchor="ctr"/>
          <a:lstStyle/>
          <a:p>
            <a:pPr indent="0" marL="0">
              <a:buNone/>
            </a:pPr>
            <a:r>
              <a:rPr lang="en-US" sz="1300" b="1" spc="100" kern="0" dirty="0">
                <a:solidFill>
                  <a:schemeClr val="accent6"/>
                </a:solidFill>
              </a:rPr>
              <a:t>STEP 4</a:t>
            </a:r>
            <a:endParaRPr lang="en-US" sz="1300" dirty="0"/>
          </a:p>
        </p:txBody>
      </p:sp>
      <p:sp>
        <p:nvSpPr>
          <p:cNvPr id="29" name="Text 23"/>
          <p:cNvSpPr txBox="1"/>
          <p:nvPr/>
        </p:nvSpPr>
        <p:spPr>
          <a:xfrm>
            <a:off x="9409176" y="3108960"/>
            <a:ext cx="2057400" cy="438912"/>
          </a:xfrm>
          <a:prstGeom prst="rect">
            <a:avLst/>
          </a:prstGeom>
          <a:noFill/>
          <a:ln/>
        </p:spPr>
        <p:txBody>
          <a:bodyPr wrap="square" lIns="0" tIns="0" rIns="0" bIns="0" rtlCol="0" anchor="t"/>
          <a:lstStyle/>
          <a:p>
            <a:pPr indent="0" marL="0">
              <a:buNone/>
            </a:pPr>
            <a:r>
              <a:rPr lang="en-US" sz="2200" b="1" dirty="0">
                <a:solidFill>
                  <a:schemeClr val="tx1"/>
                </a:solidFill>
              </a:rPr>
              <a:t>Test the fix</a:t>
            </a:r>
            <a:endParaRPr lang="en-US" sz="2200" dirty="0"/>
          </a:p>
        </p:txBody>
      </p:sp>
      <p:sp>
        <p:nvSpPr>
          <p:cNvPr id="30" name="Text 24"/>
          <p:cNvSpPr txBox="1"/>
          <p:nvPr/>
        </p:nvSpPr>
        <p:spPr>
          <a:xfrm>
            <a:off x="9409176" y="3611880"/>
            <a:ext cx="2057400" cy="1280160"/>
          </a:xfrm>
          <a:prstGeom prst="rect">
            <a:avLst/>
          </a:prstGeom>
          <a:noFill/>
          <a:ln/>
        </p:spPr>
        <p:txBody>
          <a:bodyPr wrap="square" lIns="0" tIns="0" rIns="0" bIns="0" rtlCol="0" anchor="t"/>
          <a:lstStyle/>
          <a:p>
            <a:pPr indent="0" marL="0">
              <a:buNone/>
            </a:pPr>
            <a:r>
              <a:rPr lang="en-US" sz="1600" dirty="0">
                <a:solidFill>
                  <a:schemeClr val="tx2"/>
                </a:solidFill>
              </a:rPr>
              <a:t>Removes the new permission on a copy and checks again.</a:t>
            </a:r>
            <a:endParaRPr lang="en-US" sz="1600" dirty="0"/>
          </a:p>
        </p:txBody>
      </p:sp>
      <p:sp>
        <p:nvSpPr>
          <p:cNvPr id="31" name="Result banner"/>
          <p:cNvSpPr/>
          <p:nvPr/>
        </p:nvSpPr>
        <p:spPr>
          <a:xfrm>
            <a:off x="548640" y="5303520"/>
            <a:ext cx="11091672" cy="713232"/>
          </a:xfrm>
          <a:prstGeom prst="roundRect">
            <a:avLst>
              <a:gd name="adj" fmla="val 17949"/>
            </a:avLst>
          </a:prstGeom>
          <a:solidFill>
            <a:srgbClr val="EEF0FF"/>
          </a:solidFill>
          <a:ln w="9525">
            <a:solidFill>
              <a:srgbClr val="EEF0FF"/>
            </a:solidFill>
            <a:prstDash val="solid"/>
          </a:ln>
        </p:spPr>
      </p:sp>
      <p:pic>
        <p:nvPicPr>
          <p:cNvPr id="32" name="Image 4" descr="Pull request">    </p:cNvPr>
          <p:cNvPicPr>
            <a:picLocks noChangeAspect="1"/>
          </p:cNvPicPr>
          <p:nvPr/>
        </p:nvPicPr>
        <p:blipFill>
          <a:blip r:embed="rId5"/>
          <a:stretch>
            <a:fillRect/>
          </a:stretch>
        </p:blipFill>
        <p:spPr>
          <a:xfrm>
            <a:off x="822960" y="5486400"/>
            <a:ext cx="347472" cy="347472"/>
          </a:xfrm>
          <a:prstGeom prst="rect">
            <a:avLst/>
          </a:prstGeom>
        </p:spPr>
      </p:pic>
      <p:sp>
        <p:nvSpPr>
          <p:cNvPr id="33" name="Text 26"/>
          <p:cNvSpPr txBox="1"/>
          <p:nvPr/>
        </p:nvSpPr>
        <p:spPr>
          <a:xfrm>
            <a:off x="1325880" y="5303520"/>
            <a:ext cx="10058400" cy="713232"/>
          </a:xfrm>
          <a:prstGeom prst="rect">
            <a:avLst/>
          </a:prstGeom>
          <a:noFill/>
          <a:ln/>
        </p:spPr>
        <p:txBody>
          <a:bodyPr wrap="square" lIns="0" tIns="0" rIns="0" bIns="0" rtlCol="0" anchor="ctr"/>
          <a:lstStyle/>
          <a:p>
            <a:pPr indent="0" marL="0">
              <a:buNone/>
            </a:pPr>
            <a:r>
              <a:rPr lang="en-US" sz="1900" b="1" dirty="0">
                <a:solidFill>
                  <a:srgbClr val="4044F0"/>
                </a:solidFill>
              </a:rPr>
              <a:t>Result: </a:t>
            </a:r>
            <a:pPr indent="0" marL="0">
              <a:buNone/>
            </a:pPr>
            <a:r>
              <a:rPr lang="en-US" sz="1900" dirty="0">
                <a:solidFill>
                  <a:schemeClr val="tx1"/>
                </a:solidFill>
              </a:rPr>
              <a:t>the pull request fails on the exact line that opens the route.</a:t>
            </a:r>
            <a:endParaRPr lang="en-US" sz="1900" dirty="0"/>
          </a:p>
        </p:txBody>
      </p:sp>
    </p:spTree>
  </p:cSld>
  <p:clrMapOvr>
    <a:masterClrMapping/>
  </p:clrMapOvr>
  <p:transition spd="med" advTm="120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Catch it in review</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Blocked on the exact line</a:t>
            </a:r>
            <a:endParaRPr lang="en-US" sz="3600" dirty="0"/>
          </a:p>
        </p:txBody>
      </p:sp>
      <p:sp>
        <p:nvSpPr>
          <p:cNvPr id="4" name="Runs on every pull request circle"/>
          <p:cNvSpPr/>
          <p:nvPr/>
        </p:nvSpPr>
        <p:spPr>
          <a:xfrm>
            <a:off x="548640" y="1965960"/>
            <a:ext cx="566928" cy="566928"/>
          </a:xfrm>
          <a:prstGeom prst="ellipse">
            <a:avLst/>
          </a:prstGeom>
          <a:solidFill>
            <a:srgbClr val="EEF0FF"/>
          </a:solidFill>
          <a:ln/>
        </p:spPr>
      </p:sp>
      <p:pic>
        <p:nvPicPr>
          <p:cNvPr id="5" name="Runs on every pull request icon" descr="Runs on every pull request">    </p:cNvPr>
          <p:cNvPicPr>
            <a:picLocks noChangeAspect="1"/>
          </p:cNvPicPr>
          <p:nvPr/>
        </p:nvPicPr>
        <p:blipFill>
          <a:blip r:embed="rId1"/>
          <a:stretch>
            <a:fillRect/>
          </a:stretch>
        </p:blipFill>
        <p:spPr>
          <a:xfrm>
            <a:off x="673364" y="2090684"/>
            <a:ext cx="317480" cy="317480"/>
          </a:xfrm>
          <a:prstGeom prst="rect">
            <a:avLst/>
          </a:prstGeom>
        </p:spPr>
      </p:pic>
      <p:sp>
        <p:nvSpPr>
          <p:cNvPr id="6" name="Runs on every pull request"/>
          <p:cNvSpPr txBox="1"/>
          <p:nvPr/>
        </p:nvSpPr>
        <p:spPr>
          <a:xfrm>
            <a:off x="1344168" y="1947672"/>
            <a:ext cx="3547872" cy="91440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Runs on every pull request</a:t>
            </a:r>
            <a:endParaRPr lang="en-US" sz="1600" dirty="0"/>
          </a:p>
          <a:p>
            <a:pPr indent="0" marL="0">
              <a:spcAft>
                <a:spcPts val="400"/>
              </a:spcAft>
              <a:buNone/>
            </a:pPr>
            <a:r>
              <a:rPr lang="en-US" sz="1600" dirty="0">
                <a:solidFill>
                  <a:schemeClr val="tx2"/>
                </a:solidFill>
              </a:rPr>
              <a:t>A GitHub Actions check. No AWS keys needed.</a:t>
            </a:r>
            <a:endParaRPr lang="en-US" sz="1600" dirty="0"/>
          </a:p>
        </p:txBody>
      </p:sp>
      <p:sp>
        <p:nvSpPr>
          <p:cNvPr id="7" name="Fails on a new route to admin circle"/>
          <p:cNvSpPr/>
          <p:nvPr/>
        </p:nvSpPr>
        <p:spPr>
          <a:xfrm>
            <a:off x="548640" y="3246120"/>
            <a:ext cx="566928" cy="566928"/>
          </a:xfrm>
          <a:prstGeom prst="ellipse">
            <a:avLst/>
          </a:prstGeom>
          <a:solidFill>
            <a:srgbClr val="FDECEC"/>
          </a:solidFill>
          <a:ln/>
        </p:spPr>
      </p:sp>
      <p:pic>
        <p:nvPicPr>
          <p:cNvPr id="8" name="Fails on a new route to admin icon" descr="Fails on a new route to admin">    </p:cNvPr>
          <p:cNvPicPr>
            <a:picLocks noChangeAspect="1"/>
          </p:cNvPicPr>
          <p:nvPr/>
        </p:nvPicPr>
        <p:blipFill>
          <a:blip r:embed="rId2"/>
          <a:stretch>
            <a:fillRect/>
          </a:stretch>
        </p:blipFill>
        <p:spPr>
          <a:xfrm>
            <a:off x="673364" y="3370844"/>
            <a:ext cx="317480" cy="317480"/>
          </a:xfrm>
          <a:prstGeom prst="rect">
            <a:avLst/>
          </a:prstGeom>
        </p:spPr>
      </p:pic>
      <p:sp>
        <p:nvSpPr>
          <p:cNvPr id="9" name="Fails on a new route to admin"/>
          <p:cNvSpPr txBox="1"/>
          <p:nvPr/>
        </p:nvSpPr>
        <p:spPr>
          <a:xfrm>
            <a:off x="1344168" y="3227832"/>
            <a:ext cx="3547872" cy="91440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Fails on a new route to admin</a:t>
            </a:r>
            <a:endParaRPr lang="en-US" sz="1600" dirty="0"/>
          </a:p>
          <a:p>
            <a:pPr indent="0" marL="0">
              <a:spcAft>
                <a:spcPts val="400"/>
              </a:spcAft>
              <a:buNone/>
            </a:pPr>
            <a:r>
              <a:rPr lang="en-US" sz="1600" dirty="0">
                <a:solidFill>
                  <a:schemeClr val="tx2"/>
                </a:solidFill>
              </a:rPr>
              <a:t>It marks line 27, the line that opens it.</a:t>
            </a:r>
            <a:endParaRPr lang="en-US" sz="1600" dirty="0"/>
          </a:p>
        </p:txBody>
      </p:sp>
      <p:sp>
        <p:nvSpPr>
          <p:cNvPr id="10" name="Passes once it's fixed circle"/>
          <p:cNvSpPr/>
          <p:nvPr/>
        </p:nvSpPr>
        <p:spPr>
          <a:xfrm>
            <a:off x="548640" y="4526280"/>
            <a:ext cx="566928" cy="566928"/>
          </a:xfrm>
          <a:prstGeom prst="ellipse">
            <a:avLst/>
          </a:prstGeom>
          <a:solidFill>
            <a:srgbClr val="E7F6EC"/>
          </a:solidFill>
          <a:ln/>
        </p:spPr>
      </p:sp>
      <p:pic>
        <p:nvPicPr>
          <p:cNvPr id="11" name="Passes once it's fixed icon" descr="Passes once it's fixed">    </p:cNvPr>
          <p:cNvPicPr>
            <a:picLocks noChangeAspect="1"/>
          </p:cNvPicPr>
          <p:nvPr/>
        </p:nvPicPr>
        <p:blipFill>
          <a:blip r:embed="rId3"/>
          <a:stretch>
            <a:fillRect/>
          </a:stretch>
        </p:blipFill>
        <p:spPr>
          <a:xfrm>
            <a:off x="673364" y="4651004"/>
            <a:ext cx="317480" cy="317480"/>
          </a:xfrm>
          <a:prstGeom prst="rect">
            <a:avLst/>
          </a:prstGeom>
        </p:spPr>
      </p:pic>
      <p:sp>
        <p:nvSpPr>
          <p:cNvPr id="12" name="Passes once it's fixed"/>
          <p:cNvSpPr txBox="1"/>
          <p:nvPr/>
        </p:nvSpPr>
        <p:spPr>
          <a:xfrm>
            <a:off x="1344168" y="4507992"/>
            <a:ext cx="3547872" cy="91440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Passes once it's fixed</a:t>
            </a:r>
            <a:endParaRPr lang="en-US" sz="1600" dirty="0"/>
          </a:p>
          <a:p>
            <a:pPr indent="0" marL="0">
              <a:spcAft>
                <a:spcPts val="400"/>
              </a:spcAft>
              <a:buNone/>
            </a:pPr>
            <a:r>
              <a:rPr lang="en-US" sz="1600" dirty="0">
                <a:solidFill>
                  <a:schemeClr val="tx2"/>
                </a:solidFill>
              </a:rPr>
              <a:t>Revert the line and the check goes green.</a:t>
            </a:r>
            <a:endParaRPr lang="en-US" sz="1600" dirty="0"/>
          </a:p>
        </p:txBody>
      </p:sp>
      <p:pic>
        <p:nvPicPr>
          <p:cNvPr id="13" name="Pull request screenshot" descr="The pull request in the live demo: line 27 flips from false to true, and the AttackGraph AI check fails with a note on that line">    </p:cNvPr>
          <p:cNvPicPr>
            <a:picLocks noChangeAspect="1"/>
          </p:cNvPicPr>
          <p:nvPr/>
        </p:nvPicPr>
        <p:blipFill>
          <a:blip r:embed="rId4"/>
          <a:stretch>
            <a:fillRect/>
          </a:stretch>
        </p:blipFill>
        <p:spPr>
          <a:xfrm>
            <a:off x="5120640" y="1874520"/>
            <a:ext cx="6519672" cy="3893693"/>
          </a:xfrm>
          <a:prstGeom prst="rect">
            <a:avLst/>
          </a:prstGeom>
          <a:effectLst>
            <a:outerShdw sx="100000" sy="100000" kx="0" ky="0" algn="bl" rotWithShape="0" blurRad="127000" dist="25400" dir="5400000">
              <a:srgbClr val="000000">
                <a:alpha val="8000"/>
              </a:srgbClr>
            </a:outerShdw>
          </a:effectLst>
        </p:spPr>
      </p:pic>
    </p:spTree>
  </p:cSld>
  <p:clrMapOvr>
    <a:masterClrMapping/>
  </p:clrMapOvr>
  <p:transition spd="med" advTm="110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Powered by Amazon Bedrock</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AI explains. The engine decides.</a:t>
            </a:r>
            <a:endParaRPr lang="en-US" sz="3600" dirty="0"/>
          </a:p>
        </p:txBody>
      </p:sp>
      <p:sp>
        <p:nvSpPr>
          <p:cNvPr id="4" name="Engine card"/>
          <p:cNvSpPr/>
          <p:nvPr/>
        </p:nvSpPr>
        <p:spPr>
          <a:xfrm>
            <a:off x="548640" y="1874520"/>
            <a:ext cx="4206240" cy="1600200"/>
          </a:xfrm>
          <a:prstGeom prst="roundRect">
            <a:avLst>
              <a:gd name="adj" fmla="val 8000"/>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Engine circle"/>
          <p:cNvSpPr/>
          <p:nvPr/>
        </p:nvSpPr>
        <p:spPr>
          <a:xfrm>
            <a:off x="804672" y="2103120"/>
            <a:ext cx="512064" cy="512064"/>
          </a:xfrm>
          <a:prstGeom prst="ellipse">
            <a:avLst/>
          </a:prstGeom>
          <a:solidFill>
            <a:schemeClr val="tx1"/>
          </a:solidFill>
          <a:ln/>
        </p:spPr>
      </p:sp>
      <p:pic>
        <p:nvPicPr>
          <p:cNvPr id="6" name="Engine icon" descr="Engine">    </p:cNvPr>
          <p:cNvPicPr>
            <a:picLocks noChangeAspect="1"/>
          </p:cNvPicPr>
          <p:nvPr/>
        </p:nvPicPr>
        <p:blipFill>
          <a:blip r:embed="rId1"/>
          <a:stretch>
            <a:fillRect/>
          </a:stretch>
        </p:blipFill>
        <p:spPr>
          <a:xfrm>
            <a:off x="917326" y="2215774"/>
            <a:ext cx="286756" cy="286756"/>
          </a:xfrm>
          <a:prstGeom prst="rect">
            <a:avLst/>
          </a:prstGeom>
        </p:spPr>
      </p:pic>
      <p:sp>
        <p:nvSpPr>
          <p:cNvPr id="7" name="Text 4"/>
          <p:cNvSpPr txBox="1"/>
          <p:nvPr/>
        </p:nvSpPr>
        <p:spPr>
          <a:xfrm>
            <a:off x="1481328" y="2103120"/>
            <a:ext cx="3108960" cy="512064"/>
          </a:xfrm>
          <a:prstGeom prst="rect">
            <a:avLst/>
          </a:prstGeom>
          <a:noFill/>
          <a:ln/>
        </p:spPr>
        <p:txBody>
          <a:bodyPr wrap="square" lIns="0" tIns="0" rIns="0" bIns="0" rtlCol="0" anchor="ctr"/>
          <a:lstStyle/>
          <a:p>
            <a:pPr indent="0" marL="0">
              <a:buNone/>
            </a:pPr>
            <a:r>
              <a:rPr lang="en-US" sz="2000" b="1" dirty="0">
                <a:solidFill>
                  <a:schemeClr val="tx1"/>
                </a:solidFill>
              </a:rPr>
              <a:t>The engine decides</a:t>
            </a:r>
            <a:endParaRPr lang="en-US" sz="2000" dirty="0"/>
          </a:p>
        </p:txBody>
      </p:sp>
      <p:sp>
        <p:nvSpPr>
          <p:cNvPr id="8" name="Text 5"/>
          <p:cNvSpPr txBox="1"/>
          <p:nvPr/>
        </p:nvSpPr>
        <p:spPr>
          <a:xfrm>
            <a:off x="804672" y="2743200"/>
            <a:ext cx="3749040" cy="640080"/>
          </a:xfrm>
          <a:prstGeom prst="rect">
            <a:avLst/>
          </a:prstGeom>
          <a:noFill/>
          <a:ln/>
        </p:spPr>
        <p:txBody>
          <a:bodyPr wrap="square" lIns="0" tIns="0" rIns="0" bIns="0" rtlCol="0" anchor="t"/>
          <a:lstStyle/>
          <a:p>
            <a:pPr indent="0" marL="0">
              <a:buNone/>
            </a:pPr>
            <a:r>
              <a:rPr lang="en-US" sz="1600" dirty="0">
                <a:solidFill>
                  <a:schemeClr val="tx2"/>
                </a:solidFill>
              </a:rPr>
              <a:t>Fixed rules find the route, set the severity and test the fix.</a:t>
            </a:r>
            <a:endParaRPr lang="en-US" sz="1600" dirty="0"/>
          </a:p>
        </p:txBody>
      </p:sp>
      <p:sp>
        <p:nvSpPr>
          <p:cNvPr id="9" name="Bedrock card"/>
          <p:cNvSpPr/>
          <p:nvPr/>
        </p:nvSpPr>
        <p:spPr>
          <a:xfrm>
            <a:off x="548640" y="3703320"/>
            <a:ext cx="4206240" cy="2331720"/>
          </a:xfrm>
          <a:prstGeom prst="roundRect">
            <a:avLst>
              <a:gd name="adj" fmla="val 5490"/>
            </a:avLst>
          </a:prstGeom>
          <a:solidFill>
            <a:srgbClr val="EEF0FF"/>
          </a:solidFill>
          <a:ln w="9525">
            <a:solidFill>
              <a:srgbClr val="EEF0FF"/>
            </a:solidFill>
            <a:prstDash val="solid"/>
          </a:ln>
        </p:spPr>
      </p:sp>
      <p:sp>
        <p:nvSpPr>
          <p:cNvPr id="10" name="Amazon Bedrock circle"/>
          <p:cNvSpPr/>
          <p:nvPr/>
        </p:nvSpPr>
        <p:spPr>
          <a:xfrm>
            <a:off x="804672" y="3931920"/>
            <a:ext cx="512064" cy="512064"/>
          </a:xfrm>
          <a:prstGeom prst="ellipse">
            <a:avLst/>
          </a:prstGeom>
          <a:solidFill>
            <a:schemeClr val="accent1"/>
          </a:solidFill>
          <a:ln/>
        </p:spPr>
      </p:sp>
      <p:pic>
        <p:nvPicPr>
          <p:cNvPr id="11" name="Amazon Bedrock icon" descr="Amazon Bedrock">    </p:cNvPr>
          <p:cNvPicPr>
            <a:picLocks noChangeAspect="1"/>
          </p:cNvPicPr>
          <p:nvPr/>
        </p:nvPicPr>
        <p:blipFill>
          <a:blip r:embed="rId2"/>
          <a:stretch>
            <a:fillRect/>
          </a:stretch>
        </p:blipFill>
        <p:spPr>
          <a:xfrm>
            <a:off x="917326" y="4044574"/>
            <a:ext cx="286756" cy="286756"/>
          </a:xfrm>
          <a:prstGeom prst="rect">
            <a:avLst/>
          </a:prstGeom>
        </p:spPr>
      </p:pic>
      <p:sp>
        <p:nvSpPr>
          <p:cNvPr id="12" name="Text 8"/>
          <p:cNvSpPr txBox="1"/>
          <p:nvPr/>
        </p:nvSpPr>
        <p:spPr>
          <a:xfrm>
            <a:off x="1481328" y="3931920"/>
            <a:ext cx="3200400" cy="512064"/>
          </a:xfrm>
          <a:prstGeom prst="rect">
            <a:avLst/>
          </a:prstGeom>
          <a:noFill/>
          <a:ln/>
        </p:spPr>
        <p:txBody>
          <a:bodyPr wrap="square" lIns="0" tIns="0" rIns="0" bIns="0" rtlCol="0" anchor="ctr"/>
          <a:lstStyle/>
          <a:p>
            <a:pPr indent="0" marL="0">
              <a:buNone/>
            </a:pPr>
            <a:r>
              <a:rPr lang="en-US" sz="2000" b="1" dirty="0">
                <a:solidFill>
                  <a:schemeClr val="tx1"/>
                </a:solidFill>
              </a:rPr>
              <a:t>Amazon Bedrock explains</a:t>
            </a:r>
            <a:endParaRPr lang="en-US" sz="2000" dirty="0"/>
          </a:p>
        </p:txBody>
      </p:sp>
      <p:sp>
        <p:nvSpPr>
          <p:cNvPr id="13" name="Text 9"/>
          <p:cNvSpPr txBox="1"/>
          <p:nvPr/>
        </p:nvSpPr>
        <p:spPr>
          <a:xfrm>
            <a:off x="804672" y="4553712"/>
            <a:ext cx="3749040" cy="329184"/>
          </a:xfrm>
          <a:prstGeom prst="rect">
            <a:avLst/>
          </a:prstGeom>
          <a:noFill/>
          <a:ln/>
        </p:spPr>
        <p:txBody>
          <a:bodyPr wrap="square" lIns="0" tIns="0" rIns="0" bIns="0" rtlCol="0" anchor="t"/>
          <a:lstStyle/>
          <a:p>
            <a:pPr indent="0" marL="0">
              <a:buNone/>
            </a:pPr>
            <a:r>
              <a:rPr lang="en-US" sz="1500" dirty="0">
                <a:solidFill>
                  <a:schemeClr val="tx2"/>
                </a:solidFill>
              </a:rPr>
              <a:t>Amazon Nova Pro writes the summary. It:</a:t>
            </a:r>
            <a:endParaRPr lang="en-US" sz="1500" dirty="0"/>
          </a:p>
        </p:txBody>
      </p:sp>
      <p:pic>
        <p:nvPicPr>
          <p:cNvPr id="14" name="Image 2" descr="preencoded.png">    </p:cNvPr>
          <p:cNvPicPr>
            <a:picLocks noChangeAspect="1"/>
          </p:cNvPicPr>
          <p:nvPr/>
        </p:nvPicPr>
        <p:blipFill>
          <a:blip r:embed="rId3"/>
          <a:stretch>
            <a:fillRect/>
          </a:stretch>
        </p:blipFill>
        <p:spPr>
          <a:xfrm>
            <a:off x="822960" y="4974336"/>
            <a:ext cx="228600" cy="228600"/>
          </a:xfrm>
          <a:prstGeom prst="rect">
            <a:avLst/>
          </a:prstGeom>
        </p:spPr>
      </p:pic>
      <p:sp>
        <p:nvSpPr>
          <p:cNvPr id="15" name="Text 10"/>
          <p:cNvSpPr txBox="1"/>
          <p:nvPr/>
        </p:nvSpPr>
        <p:spPr>
          <a:xfrm>
            <a:off x="1143000" y="4937760"/>
            <a:ext cx="3520440" cy="301752"/>
          </a:xfrm>
          <a:prstGeom prst="rect">
            <a:avLst/>
          </a:prstGeom>
          <a:noFill/>
          <a:ln/>
        </p:spPr>
        <p:txBody>
          <a:bodyPr wrap="square" lIns="0" tIns="0" rIns="0" bIns="0" rtlCol="0" anchor="ctr"/>
          <a:lstStyle/>
          <a:p>
            <a:pPr indent="0" marL="0">
              <a:buNone/>
            </a:pPr>
            <a:r>
              <a:rPr lang="en-US" sz="1500" dirty="0">
                <a:solidFill>
                  <a:schemeClr val="tx1"/>
                </a:solidFill>
              </a:rPr>
              <a:t>sees placeholder IDs, never real names</a:t>
            </a:r>
            <a:endParaRPr lang="en-US" sz="1500" dirty="0"/>
          </a:p>
        </p:txBody>
      </p:sp>
      <p:pic>
        <p:nvPicPr>
          <p:cNvPr id="16" name="Image 3" descr="preencoded.png">    </p:cNvPr>
          <p:cNvPicPr>
            <a:picLocks noChangeAspect="1"/>
          </p:cNvPicPr>
          <p:nvPr/>
        </p:nvPicPr>
        <p:blipFill>
          <a:blip r:embed="rId4"/>
          <a:stretch>
            <a:fillRect/>
          </a:stretch>
        </p:blipFill>
        <p:spPr>
          <a:xfrm>
            <a:off x="822960" y="5312664"/>
            <a:ext cx="228600" cy="228600"/>
          </a:xfrm>
          <a:prstGeom prst="rect">
            <a:avLst/>
          </a:prstGeom>
        </p:spPr>
      </p:pic>
      <p:sp>
        <p:nvSpPr>
          <p:cNvPr id="17" name="Text 11"/>
          <p:cNvSpPr txBox="1"/>
          <p:nvPr/>
        </p:nvSpPr>
        <p:spPr>
          <a:xfrm>
            <a:off x="1143000" y="5276088"/>
            <a:ext cx="3520440" cy="301752"/>
          </a:xfrm>
          <a:prstGeom prst="rect">
            <a:avLst/>
          </a:prstGeom>
          <a:noFill/>
          <a:ln/>
        </p:spPr>
        <p:txBody>
          <a:bodyPr wrap="square" lIns="0" tIns="0" rIns="0" bIns="0" rtlCol="0" anchor="ctr"/>
          <a:lstStyle/>
          <a:p>
            <a:pPr indent="0" marL="0">
              <a:buNone/>
            </a:pPr>
            <a:r>
              <a:rPr lang="en-US" sz="1500" dirty="0">
                <a:solidFill>
                  <a:schemeClr val="tx1"/>
                </a:solidFill>
              </a:rPr>
              <a:t>cannot add findings or fixes</a:t>
            </a:r>
            <a:endParaRPr lang="en-US" sz="1500" dirty="0"/>
          </a:p>
        </p:txBody>
      </p:sp>
      <p:pic>
        <p:nvPicPr>
          <p:cNvPr id="18" name="Image 4" descr="preencoded.png">    </p:cNvPr>
          <p:cNvPicPr>
            <a:picLocks noChangeAspect="1"/>
          </p:cNvPicPr>
          <p:nvPr/>
        </p:nvPicPr>
        <p:blipFill>
          <a:blip r:embed="rId5"/>
          <a:stretch>
            <a:fillRect/>
          </a:stretch>
        </p:blipFill>
        <p:spPr>
          <a:xfrm>
            <a:off x="822960" y="5650992"/>
            <a:ext cx="228600" cy="228600"/>
          </a:xfrm>
          <a:prstGeom prst="rect">
            <a:avLst/>
          </a:prstGeom>
        </p:spPr>
      </p:pic>
      <p:sp>
        <p:nvSpPr>
          <p:cNvPr id="19" name="Text 12"/>
          <p:cNvSpPr txBox="1"/>
          <p:nvPr/>
        </p:nvSpPr>
        <p:spPr>
          <a:xfrm>
            <a:off x="1143000" y="5614416"/>
            <a:ext cx="3520440" cy="301752"/>
          </a:xfrm>
          <a:prstGeom prst="rect">
            <a:avLst/>
          </a:prstGeom>
          <a:noFill/>
          <a:ln/>
        </p:spPr>
        <p:txBody>
          <a:bodyPr wrap="square" lIns="0" tIns="0" rIns="0" bIns="0" rtlCol="0" anchor="ctr"/>
          <a:lstStyle/>
          <a:p>
            <a:pPr indent="0" marL="0">
              <a:buNone/>
            </a:pPr>
            <a:r>
              <a:rPr lang="en-US" sz="1500" dirty="0">
                <a:solidFill>
                  <a:schemeClr val="tx1"/>
                </a:solidFill>
              </a:rPr>
              <a:t>is rejected if it cites anything unknown</a:t>
            </a:r>
            <a:endParaRPr lang="en-US" sz="1500" dirty="0"/>
          </a:p>
        </p:txBody>
      </p:sp>
      <p:pic>
        <p:nvPicPr>
          <p:cNvPr id="20" name="Bedrock explanation screenshot" descr="A recorded Amazon Nova Pro explanation shown in the demo, with its model, region, request ID and token usage">    </p:cNvPr>
          <p:cNvPicPr>
            <a:picLocks noChangeAspect="1"/>
          </p:cNvPicPr>
          <p:nvPr/>
        </p:nvPicPr>
        <p:blipFill>
          <a:blip r:embed="rId6"/>
          <a:stretch>
            <a:fillRect/>
          </a:stretch>
        </p:blipFill>
        <p:spPr>
          <a:xfrm>
            <a:off x="5074920" y="1874520"/>
            <a:ext cx="6565392" cy="2786872"/>
          </a:xfrm>
          <a:prstGeom prst="rect">
            <a:avLst/>
          </a:prstGeom>
          <a:effectLst>
            <a:outerShdw sx="100000" sy="100000" kx="0" ky="0" algn="bl" rotWithShape="0" blurRad="127000" dist="25400" dir="5400000">
              <a:srgbClr val="000000">
                <a:alpha val="8000"/>
              </a:srgbClr>
            </a:outerShdw>
          </a:effectLst>
        </p:spPr>
      </p:pic>
      <p:sp>
        <p:nvSpPr>
          <p:cNvPr id="21" name="Chip: Real Amazon Nova Pro reply"/>
          <p:cNvSpPr/>
          <p:nvPr/>
        </p:nvSpPr>
        <p:spPr>
          <a:xfrm>
            <a:off x="5074920" y="4935712"/>
            <a:ext cx="2743200" cy="347472"/>
          </a:xfrm>
          <a:prstGeom prst="roundRect">
            <a:avLst>
              <a:gd name="adj" fmla="val 50000"/>
            </a:avLst>
          </a:prstGeom>
          <a:solidFill>
            <a:srgbClr val="E7F6EC"/>
          </a:solidFill>
          <a:ln/>
        </p:spPr>
        <p:txBody>
          <a:bodyPr wrap="square" lIns="0" tIns="0" rIns="0" bIns="0" rtlCol="0" anchor="ctr"/>
          <a:lstStyle/>
          <a:p>
            <a:pPr algn="ctr" indent="0" marL="0">
              <a:buNone/>
            </a:pPr>
            <a:r>
              <a:rPr lang="en-US" sz="1300" b="1" dirty="0">
                <a:solidFill>
                  <a:srgbClr val="15803D"/>
                </a:solidFill>
              </a:rPr>
              <a:t>Real Amazon Nova Pro reply</a:t>
            </a:r>
            <a:endParaRPr lang="en-US" sz="1300" dirty="0"/>
          </a:p>
        </p:txBody>
      </p:sp>
      <p:sp>
        <p:nvSpPr>
          <p:cNvPr id="22" name="Text 14"/>
          <p:cNvSpPr txBox="1"/>
          <p:nvPr/>
        </p:nvSpPr>
        <p:spPr>
          <a:xfrm>
            <a:off x="5074920" y="5392912"/>
            <a:ext cx="6565392" cy="685800"/>
          </a:xfrm>
          <a:prstGeom prst="rect">
            <a:avLst/>
          </a:prstGeom>
          <a:noFill/>
          <a:ln/>
        </p:spPr>
        <p:txBody>
          <a:bodyPr wrap="square" lIns="0" tIns="0" rIns="0" bIns="0" rtlCol="0" anchor="t"/>
          <a:lstStyle/>
          <a:p>
            <a:pPr indent="0" marL="0">
              <a:buNone/>
            </a:pPr>
            <a:r>
              <a:rPr lang="en-US" sz="1600" dirty="0">
                <a:solidFill>
                  <a:schemeClr val="tx2"/>
                </a:solidFill>
              </a:rPr>
              <a:t>Recorded from a live call on 30 September 2026. Every ID the model cites is checked against the evidence.</a:t>
            </a:r>
            <a:endParaRPr lang="en-US" sz="1600" dirty="0"/>
          </a:p>
        </p:txBody>
      </p:sp>
    </p:spTree>
  </p:cSld>
  <p:clrMapOvr>
    <a:masterClrMapping/>
  </p:clrMapOvr>
  <p:transition spd="med" advTm="130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Test the fix</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Close the route, keep the app working</a:t>
            </a:r>
            <a:endParaRPr lang="en-US" sz="3600" dirty="0"/>
          </a:p>
        </p:txBody>
      </p:sp>
      <p:sp>
        <p:nvSpPr>
          <p:cNvPr id="4" name="Node: CI deploy user"/>
          <p:cNvSpPr/>
          <p:nvPr/>
        </p:nvSpPr>
        <p:spPr>
          <a:xfrm>
            <a:off x="548640" y="1920240"/>
            <a:ext cx="2743200" cy="914400"/>
          </a:xfrm>
          <a:prstGeom prst="roundRect">
            <a:avLst>
              <a:gd name="adj" fmla="val 14000"/>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CI deploy user circle"/>
          <p:cNvSpPr/>
          <p:nvPr/>
        </p:nvSpPr>
        <p:spPr>
          <a:xfrm>
            <a:off x="777240" y="2148840"/>
            <a:ext cx="457200" cy="457200"/>
          </a:xfrm>
          <a:prstGeom prst="ellipse">
            <a:avLst/>
          </a:prstGeom>
          <a:solidFill>
            <a:srgbClr val="EEF0FF"/>
          </a:solidFill>
          <a:ln/>
        </p:spPr>
      </p:sp>
      <p:pic>
        <p:nvPicPr>
          <p:cNvPr id="6" name="CI deploy user icon" descr="CI deploy user">    </p:cNvPr>
          <p:cNvPicPr>
            <a:picLocks noChangeAspect="1"/>
          </p:cNvPicPr>
          <p:nvPr/>
        </p:nvPicPr>
        <p:blipFill>
          <a:blip r:embed="rId1"/>
          <a:stretch>
            <a:fillRect/>
          </a:stretch>
        </p:blipFill>
        <p:spPr>
          <a:xfrm>
            <a:off x="877824" y="2249424"/>
            <a:ext cx="256032" cy="256032"/>
          </a:xfrm>
          <a:prstGeom prst="rect">
            <a:avLst/>
          </a:prstGeom>
        </p:spPr>
      </p:pic>
      <p:sp>
        <p:nvSpPr>
          <p:cNvPr id="7" name="Text 4"/>
          <p:cNvSpPr txBox="1"/>
          <p:nvPr/>
        </p:nvSpPr>
        <p:spPr>
          <a:xfrm>
            <a:off x="1417320" y="1920240"/>
            <a:ext cx="1691640" cy="914400"/>
          </a:xfrm>
          <a:prstGeom prst="rect">
            <a:avLst/>
          </a:prstGeom>
          <a:noFill/>
          <a:ln/>
        </p:spPr>
        <p:txBody>
          <a:bodyPr wrap="square" lIns="0" tIns="0" rIns="0" bIns="0" rtlCol="0" anchor="ctr"/>
          <a:lstStyle/>
          <a:p>
            <a:pPr indent="0" marL="0">
              <a:buNone/>
            </a:pPr>
            <a:r>
              <a:rPr lang="en-US" sz="1800" b="1" dirty="0">
                <a:solidFill>
                  <a:schemeClr val="tx1"/>
                </a:solidFill>
              </a:rPr>
              <a:t>CI deploy user</a:t>
            </a:r>
            <a:endParaRPr lang="en-US" sz="1800" dirty="0"/>
          </a:p>
        </p:txBody>
      </p:sp>
      <p:sp>
        <p:nvSpPr>
          <p:cNvPr id="8" name="Node: Post-build hook"/>
          <p:cNvSpPr/>
          <p:nvPr/>
        </p:nvSpPr>
        <p:spPr>
          <a:xfrm>
            <a:off x="4722876" y="1920240"/>
            <a:ext cx="2743200" cy="914400"/>
          </a:xfrm>
          <a:prstGeom prst="roundRect">
            <a:avLst>
              <a:gd name="adj" fmla="val 14000"/>
            </a:avLst>
          </a:prstGeom>
          <a:solidFill>
            <a:srgbClr val="F3F3F6"/>
          </a:solidFill>
          <a:ln w="9525">
            <a:solidFill>
              <a:srgbClr val="E2E2E8"/>
            </a:solidFill>
            <a:prstDash val="solid"/>
          </a:ln>
        </p:spPr>
      </p:sp>
      <p:sp>
        <p:nvSpPr>
          <p:cNvPr id="9" name="Post-build hook circle"/>
          <p:cNvSpPr/>
          <p:nvPr/>
        </p:nvSpPr>
        <p:spPr>
          <a:xfrm>
            <a:off x="4951476" y="2148840"/>
            <a:ext cx="457200" cy="457200"/>
          </a:xfrm>
          <a:prstGeom prst="ellipse">
            <a:avLst/>
          </a:prstGeom>
          <a:solidFill>
            <a:srgbClr val="F3F3F6"/>
          </a:solidFill>
          <a:ln/>
        </p:spPr>
      </p:sp>
      <p:pic>
        <p:nvPicPr>
          <p:cNvPr id="10" name="Post-build hook icon" descr="Post-build hook">    </p:cNvPr>
          <p:cNvPicPr>
            <a:picLocks noChangeAspect="1"/>
          </p:cNvPicPr>
          <p:nvPr/>
        </p:nvPicPr>
        <p:blipFill>
          <a:blip r:embed="rId2"/>
          <a:stretch>
            <a:fillRect/>
          </a:stretch>
        </p:blipFill>
        <p:spPr>
          <a:xfrm>
            <a:off x="5052060" y="2249424"/>
            <a:ext cx="256032" cy="256032"/>
          </a:xfrm>
          <a:prstGeom prst="rect">
            <a:avLst/>
          </a:prstGeom>
        </p:spPr>
      </p:pic>
      <p:sp>
        <p:nvSpPr>
          <p:cNvPr id="11" name="Text 7"/>
          <p:cNvSpPr txBox="1"/>
          <p:nvPr/>
        </p:nvSpPr>
        <p:spPr>
          <a:xfrm>
            <a:off x="5591556" y="1920240"/>
            <a:ext cx="1691640" cy="914400"/>
          </a:xfrm>
          <a:prstGeom prst="rect">
            <a:avLst/>
          </a:prstGeom>
          <a:noFill/>
          <a:ln/>
        </p:spPr>
        <p:txBody>
          <a:bodyPr wrap="square" lIns="0" tIns="0" rIns="0" bIns="0" rtlCol="0" anchor="ctr"/>
          <a:lstStyle/>
          <a:p>
            <a:pPr indent="0" marL="0">
              <a:buNone/>
            </a:pPr>
            <a:r>
              <a:rPr lang="en-US" sz="1800" b="1" dirty="0">
                <a:solidFill>
                  <a:srgbClr val="9A9AAC"/>
                </a:solidFill>
              </a:rPr>
              <a:t>Post-build hook</a:t>
            </a:r>
            <a:endParaRPr lang="en-US" sz="1800" dirty="0"/>
          </a:p>
        </p:txBody>
      </p:sp>
      <p:sp>
        <p:nvSpPr>
          <p:cNvPr id="12" name="Node: Deployment admin role"/>
          <p:cNvSpPr/>
          <p:nvPr/>
        </p:nvSpPr>
        <p:spPr>
          <a:xfrm>
            <a:off x="8897112" y="1920240"/>
            <a:ext cx="2743200" cy="914400"/>
          </a:xfrm>
          <a:prstGeom prst="roundRect">
            <a:avLst>
              <a:gd name="adj" fmla="val 14000"/>
            </a:avLst>
          </a:prstGeom>
          <a:solidFill>
            <a:srgbClr val="F3F3F6"/>
          </a:solidFill>
          <a:ln w="9525">
            <a:solidFill>
              <a:srgbClr val="E2E2E8"/>
            </a:solidFill>
            <a:prstDash val="solid"/>
          </a:ln>
        </p:spPr>
      </p:sp>
      <p:sp>
        <p:nvSpPr>
          <p:cNvPr id="13" name="Deployment admin role circle"/>
          <p:cNvSpPr/>
          <p:nvPr/>
        </p:nvSpPr>
        <p:spPr>
          <a:xfrm>
            <a:off x="9125712" y="2148840"/>
            <a:ext cx="457200" cy="457200"/>
          </a:xfrm>
          <a:prstGeom prst="ellipse">
            <a:avLst/>
          </a:prstGeom>
          <a:solidFill>
            <a:srgbClr val="F3F3F6"/>
          </a:solidFill>
          <a:ln/>
        </p:spPr>
      </p:sp>
      <p:pic>
        <p:nvPicPr>
          <p:cNvPr id="14" name="Deployment admin role icon" descr="Deployment admin role">    </p:cNvPr>
          <p:cNvPicPr>
            <a:picLocks noChangeAspect="1"/>
          </p:cNvPicPr>
          <p:nvPr/>
        </p:nvPicPr>
        <p:blipFill>
          <a:blip r:embed="rId3"/>
          <a:stretch>
            <a:fillRect/>
          </a:stretch>
        </p:blipFill>
        <p:spPr>
          <a:xfrm>
            <a:off x="9226296" y="2249424"/>
            <a:ext cx="256032" cy="256032"/>
          </a:xfrm>
          <a:prstGeom prst="rect">
            <a:avLst/>
          </a:prstGeom>
        </p:spPr>
      </p:pic>
      <p:sp>
        <p:nvSpPr>
          <p:cNvPr id="15" name="Text 10"/>
          <p:cNvSpPr txBox="1"/>
          <p:nvPr/>
        </p:nvSpPr>
        <p:spPr>
          <a:xfrm>
            <a:off x="9765792" y="1920240"/>
            <a:ext cx="1691640" cy="914400"/>
          </a:xfrm>
          <a:prstGeom prst="rect">
            <a:avLst/>
          </a:prstGeom>
          <a:noFill/>
          <a:ln/>
        </p:spPr>
        <p:txBody>
          <a:bodyPr wrap="square" lIns="0" tIns="0" rIns="0" bIns="0" rtlCol="0" anchor="ctr"/>
          <a:lstStyle/>
          <a:p>
            <a:pPr indent="0" marL="0">
              <a:buNone/>
            </a:pPr>
            <a:r>
              <a:rPr lang="en-US" sz="1800" b="1" dirty="0">
                <a:solidFill>
                  <a:srgbClr val="9A9AAC"/>
                </a:solidFill>
              </a:rPr>
              <a:t>Deployment admin role</a:t>
            </a:r>
            <a:endParaRPr lang="en-US" sz="1800" dirty="0"/>
          </a:p>
        </p:txBody>
      </p:sp>
      <p:sp>
        <p:nvSpPr>
          <p:cNvPr id="16" name="Chip: REVOKED"/>
          <p:cNvSpPr/>
          <p:nvPr/>
        </p:nvSpPr>
        <p:spPr>
          <a:xfrm>
            <a:off x="3602736" y="1920240"/>
            <a:ext cx="868680" cy="310896"/>
          </a:xfrm>
          <a:prstGeom prst="roundRect">
            <a:avLst>
              <a:gd name="adj" fmla="val 50000"/>
            </a:avLst>
          </a:prstGeom>
          <a:solidFill>
            <a:srgbClr val="FDECEC"/>
          </a:solidFill>
          <a:ln w="12700">
            <a:solidFill>
              <a:srgbClr val="F5B5B5"/>
            </a:solidFill>
          </a:ln>
        </p:spPr>
        <p:txBody>
          <a:bodyPr wrap="square" lIns="0" tIns="0" rIns="0" bIns="0" rtlCol="0" anchor="ctr"/>
          <a:lstStyle/>
          <a:p>
            <a:pPr algn="ctr" indent="0" marL="0">
              <a:buNone/>
            </a:pPr>
            <a:r>
              <a:rPr lang="en-US" sz="1200" b="1" dirty="0">
                <a:solidFill>
                  <a:srgbClr val="B91C1C"/>
                </a:solidFill>
              </a:rPr>
              <a:t>REVOKED</a:t>
            </a:r>
            <a:endParaRPr lang="en-US" sz="1200" dirty="0"/>
          </a:p>
        </p:txBody>
      </p:sp>
      <p:sp>
        <p:nvSpPr>
          <p:cNvPr id="17" name="Revoked arrow"/>
          <p:cNvSpPr/>
          <p:nvPr/>
        </p:nvSpPr>
        <p:spPr>
          <a:xfrm>
            <a:off x="3364992" y="2377440"/>
            <a:ext cx="1289304" cy="0"/>
          </a:xfrm>
          <a:prstGeom prst="line">
            <a:avLst/>
          </a:prstGeom>
          <a:noFill/>
          <a:ln w="38100">
            <a:solidFill>
              <a:schemeClr val="accent4"/>
            </a:solidFill>
            <a:prstDash val="dash"/>
            <a:tailEnd type="triangle"/>
          </a:ln>
        </p:spPr>
      </p:sp>
      <p:sp>
        <p:nvSpPr>
          <p:cNvPr id="18" name="Text 13"/>
          <p:cNvSpPr txBox="1"/>
          <p:nvPr/>
        </p:nvSpPr>
        <p:spPr>
          <a:xfrm>
            <a:off x="7498080" y="1920240"/>
            <a:ext cx="1371600" cy="365760"/>
          </a:xfrm>
          <a:prstGeom prst="rect">
            <a:avLst/>
          </a:prstGeom>
          <a:noFill/>
          <a:ln/>
        </p:spPr>
        <p:txBody>
          <a:bodyPr wrap="square" lIns="0" tIns="0" rIns="0" bIns="0" rtlCol="0" anchor="b"/>
          <a:lstStyle/>
          <a:p>
            <a:pPr algn="ctr" indent="0" marL="0">
              <a:buNone/>
            </a:pPr>
            <a:r>
              <a:rPr lang="en-US" sz="1200" dirty="0">
                <a:solidFill>
                  <a:srgbClr val="9A9AAC"/>
                </a:solidFill>
              </a:rPr>
              <a:t>no longer reachable</a:t>
            </a:r>
            <a:endParaRPr lang="en-US" sz="1200" dirty="0"/>
          </a:p>
        </p:txBody>
      </p:sp>
      <p:sp>
        <p:nvSpPr>
          <p:cNvPr id="19" name="Unreachable arrow"/>
          <p:cNvSpPr/>
          <p:nvPr/>
        </p:nvSpPr>
        <p:spPr>
          <a:xfrm>
            <a:off x="7534656" y="2377440"/>
            <a:ext cx="1298448" cy="0"/>
          </a:xfrm>
          <a:prstGeom prst="line">
            <a:avLst/>
          </a:prstGeom>
          <a:noFill/>
          <a:ln w="31750">
            <a:solidFill>
              <a:srgbClr val="C7C8F8"/>
            </a:solidFill>
            <a:prstDash val="solid"/>
            <a:tailEnd type="triangle"/>
          </a:ln>
        </p:spPr>
      </p:sp>
      <p:sp>
        <p:nvSpPr>
          <p:cNvPr id="20" name="High-risk paths"/>
          <p:cNvSpPr/>
          <p:nvPr/>
        </p:nvSpPr>
        <p:spPr>
          <a:xfrm>
            <a:off x="548640" y="3154680"/>
            <a:ext cx="5394960" cy="2194560"/>
          </a:xfrm>
          <a:prstGeom prst="roundRect">
            <a:avLst>
              <a:gd name="adj" fmla="val 5833"/>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21" name="Text 16"/>
          <p:cNvSpPr txBox="1"/>
          <p:nvPr/>
        </p:nvSpPr>
        <p:spPr>
          <a:xfrm>
            <a:off x="868680" y="3401568"/>
            <a:ext cx="4754880" cy="365760"/>
          </a:xfrm>
          <a:prstGeom prst="rect">
            <a:avLst/>
          </a:prstGeom>
          <a:noFill/>
          <a:ln/>
        </p:spPr>
        <p:txBody>
          <a:bodyPr wrap="square" lIns="0" tIns="0" rIns="0" bIns="0" rtlCol="0" anchor="t"/>
          <a:lstStyle/>
          <a:p>
            <a:pPr indent="0" marL="0">
              <a:buNone/>
            </a:pPr>
            <a:r>
              <a:rPr lang="en-US" sz="1800" dirty="0">
                <a:solidFill>
                  <a:schemeClr val="accent6"/>
                </a:solidFill>
              </a:rPr>
              <a:t>High-risk paths</a:t>
            </a:r>
            <a:endParaRPr lang="en-US" sz="1800" dirty="0"/>
          </a:p>
        </p:txBody>
      </p:sp>
      <p:sp>
        <p:nvSpPr>
          <p:cNvPr id="22" name="Text 17"/>
          <p:cNvSpPr txBox="1"/>
          <p:nvPr/>
        </p:nvSpPr>
        <p:spPr>
          <a:xfrm>
            <a:off x="868680" y="3794760"/>
            <a:ext cx="4754880" cy="960120"/>
          </a:xfrm>
          <a:prstGeom prst="rect">
            <a:avLst/>
          </a:prstGeom>
          <a:noFill/>
          <a:ln/>
        </p:spPr>
        <p:txBody>
          <a:bodyPr wrap="square" lIns="0" tIns="0" rIns="0" bIns="0" rtlCol="0" anchor="ctr"/>
          <a:lstStyle/>
          <a:p>
            <a:pPr indent="0" marL="0">
              <a:buNone/>
            </a:pPr>
            <a:r>
              <a:rPr lang="en-US" sz="6400" b="1" dirty="0">
                <a:solidFill>
                  <a:srgbClr val="15803D"/>
                </a:solidFill>
              </a:rPr>
              <a:t>1 → 0</a:t>
            </a:r>
            <a:endParaRPr lang="en-US" sz="6400" dirty="0"/>
          </a:p>
        </p:txBody>
      </p:sp>
      <p:sp>
        <p:nvSpPr>
          <p:cNvPr id="23" name="Text 18"/>
          <p:cNvSpPr txBox="1"/>
          <p:nvPr/>
        </p:nvSpPr>
        <p:spPr>
          <a:xfrm>
            <a:off x="868680" y="4846320"/>
            <a:ext cx="4754880" cy="365760"/>
          </a:xfrm>
          <a:prstGeom prst="rect">
            <a:avLst/>
          </a:prstGeom>
          <a:noFill/>
          <a:ln/>
        </p:spPr>
        <p:txBody>
          <a:bodyPr wrap="square" lIns="0" tIns="0" rIns="0" bIns="0" rtlCol="0" anchor="t"/>
          <a:lstStyle/>
          <a:p>
            <a:pPr indent="0" marL="0">
              <a:buNone/>
            </a:pPr>
            <a:r>
              <a:rPr lang="en-US" sz="1600" dirty="0">
                <a:solidFill>
                  <a:schemeClr val="accent6"/>
                </a:solidFill>
              </a:rPr>
              <a:t>Before the fix, then after</a:t>
            </a:r>
            <a:endParaRPr lang="en-US" sz="1600" dirty="0"/>
          </a:p>
        </p:txBody>
      </p:sp>
      <p:sp>
        <p:nvSpPr>
          <p:cNvPr id="24" name="Normal access"/>
          <p:cNvSpPr/>
          <p:nvPr/>
        </p:nvSpPr>
        <p:spPr>
          <a:xfrm>
            <a:off x="6245352" y="3154680"/>
            <a:ext cx="5394960" cy="2194560"/>
          </a:xfrm>
          <a:prstGeom prst="roundRect">
            <a:avLst>
              <a:gd name="adj" fmla="val 5833"/>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25" name="Text 20"/>
          <p:cNvSpPr txBox="1"/>
          <p:nvPr/>
        </p:nvSpPr>
        <p:spPr>
          <a:xfrm>
            <a:off x="6565392" y="3401568"/>
            <a:ext cx="4754880" cy="365760"/>
          </a:xfrm>
          <a:prstGeom prst="rect">
            <a:avLst/>
          </a:prstGeom>
          <a:noFill/>
          <a:ln/>
        </p:spPr>
        <p:txBody>
          <a:bodyPr wrap="square" lIns="0" tIns="0" rIns="0" bIns="0" rtlCol="0" anchor="t"/>
          <a:lstStyle/>
          <a:p>
            <a:pPr indent="0" marL="0">
              <a:buNone/>
            </a:pPr>
            <a:r>
              <a:rPr lang="en-US" sz="1800" dirty="0">
                <a:solidFill>
                  <a:schemeClr val="accent6"/>
                </a:solidFill>
              </a:rPr>
              <a:t>Normal access</a:t>
            </a:r>
            <a:endParaRPr lang="en-US" sz="1800" dirty="0"/>
          </a:p>
        </p:txBody>
      </p:sp>
      <p:sp>
        <p:nvSpPr>
          <p:cNvPr id="26" name="Text 21"/>
          <p:cNvSpPr txBox="1"/>
          <p:nvPr/>
        </p:nvSpPr>
        <p:spPr>
          <a:xfrm>
            <a:off x="6565392" y="3794760"/>
            <a:ext cx="4754880" cy="960120"/>
          </a:xfrm>
          <a:prstGeom prst="rect">
            <a:avLst/>
          </a:prstGeom>
          <a:noFill/>
          <a:ln/>
        </p:spPr>
        <p:txBody>
          <a:bodyPr wrap="square" lIns="0" tIns="0" rIns="0" bIns="0" rtlCol="0" anchor="ctr"/>
          <a:lstStyle/>
          <a:p>
            <a:pPr indent="0" marL="0">
              <a:buNone/>
            </a:pPr>
            <a:r>
              <a:rPr lang="en-US" sz="6400" b="1" dirty="0">
                <a:solidFill>
                  <a:srgbClr val="15803D"/>
                </a:solidFill>
              </a:rPr>
              <a:t>2 of 2</a:t>
            </a:r>
            <a:endParaRPr lang="en-US" sz="6400" dirty="0"/>
          </a:p>
        </p:txBody>
      </p:sp>
      <p:sp>
        <p:nvSpPr>
          <p:cNvPr id="27" name="Text 22"/>
          <p:cNvSpPr txBox="1"/>
          <p:nvPr/>
        </p:nvSpPr>
        <p:spPr>
          <a:xfrm>
            <a:off x="6565392" y="4846320"/>
            <a:ext cx="4754880" cy="365760"/>
          </a:xfrm>
          <a:prstGeom prst="rect">
            <a:avLst/>
          </a:prstGeom>
          <a:noFill/>
          <a:ln/>
        </p:spPr>
        <p:txBody>
          <a:bodyPr wrap="square" lIns="0" tIns="0" rIns="0" bIns="0" rtlCol="0" anchor="t"/>
          <a:lstStyle/>
          <a:p>
            <a:pPr indent="0" marL="0">
              <a:buNone/>
            </a:pPr>
            <a:r>
              <a:rPr lang="en-US" sz="1600" dirty="0">
                <a:solidFill>
                  <a:schemeClr val="accent6"/>
                </a:solidFill>
              </a:rPr>
              <a:t>Expected access checks still pass</a:t>
            </a:r>
            <a:endParaRPr lang="en-US" sz="1600" dirty="0"/>
          </a:p>
        </p:txBody>
      </p:sp>
      <p:sp>
        <p:nvSpPr>
          <p:cNvPr id="28" name="Chip: Verified in this model"/>
          <p:cNvSpPr/>
          <p:nvPr/>
        </p:nvSpPr>
        <p:spPr>
          <a:xfrm>
            <a:off x="548640" y="5596128"/>
            <a:ext cx="2468880" cy="384048"/>
          </a:xfrm>
          <a:prstGeom prst="roundRect">
            <a:avLst>
              <a:gd name="adj" fmla="val 50000"/>
            </a:avLst>
          </a:prstGeom>
          <a:solidFill>
            <a:srgbClr val="E7F6EC"/>
          </a:solidFill>
          <a:ln w="12700">
            <a:solidFill>
              <a:srgbClr val="B7E4C7"/>
            </a:solidFill>
          </a:ln>
        </p:spPr>
        <p:txBody>
          <a:bodyPr wrap="square" lIns="0" tIns="0" rIns="0" bIns="0" rtlCol="0" anchor="ctr"/>
          <a:lstStyle/>
          <a:p>
            <a:pPr algn="ctr" indent="0" marL="0">
              <a:buNone/>
            </a:pPr>
            <a:r>
              <a:rPr lang="en-US" sz="1500" b="1" dirty="0">
                <a:solidFill>
                  <a:srgbClr val="15803D"/>
                </a:solidFill>
              </a:rPr>
              <a:t>Verified in this model</a:t>
            </a:r>
            <a:endParaRPr lang="en-US" sz="1500" dirty="0"/>
          </a:p>
        </p:txBody>
      </p:sp>
      <p:sp>
        <p:nvSpPr>
          <p:cNvPr id="29" name="Text 24"/>
          <p:cNvSpPr txBox="1"/>
          <p:nvPr/>
        </p:nvSpPr>
        <p:spPr>
          <a:xfrm>
            <a:off x="3246120" y="5596128"/>
            <a:ext cx="8321040" cy="384048"/>
          </a:xfrm>
          <a:prstGeom prst="rect">
            <a:avLst/>
          </a:prstGeom>
          <a:noFill/>
          <a:ln/>
        </p:spPr>
        <p:txBody>
          <a:bodyPr wrap="square" lIns="0" tIns="0" rIns="0" bIns="0" rtlCol="0" anchor="ctr"/>
          <a:lstStyle/>
          <a:p>
            <a:pPr indent="0" marL="0">
              <a:buNone/>
            </a:pPr>
            <a:r>
              <a:rPr lang="en-US" sz="1600" dirty="0">
                <a:solidFill>
                  <a:schemeClr val="tx2"/>
                </a:solidFill>
              </a:rPr>
              <a:t>Tested on a copy. Nothing is deployed and no AWS account is touched.</a:t>
            </a:r>
            <a:endParaRPr lang="en-US" sz="1600" dirty="0"/>
          </a:p>
        </p:txBody>
      </p:sp>
    </p:spTree>
  </p:cSld>
  <p:clrMapOvr>
    <a:masterClrMapping/>
  </p:clrMapOvr>
  <p:transition spd="med" advTm="120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Built to be checked, not trusted</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Honest by design</a:t>
            </a:r>
            <a:endParaRPr lang="en-US" sz="3600" dirty="0"/>
          </a:p>
        </p:txBody>
      </p:sp>
      <p:sp>
        <p:nvSpPr>
          <p:cNvPr id="4" name="Unknown is never a pass"/>
          <p:cNvSpPr/>
          <p:nvPr/>
        </p:nvSpPr>
        <p:spPr>
          <a:xfrm>
            <a:off x="548640" y="1874520"/>
            <a:ext cx="3474720" cy="3520440"/>
          </a:xfrm>
          <a:prstGeom prst="roundRect">
            <a:avLst>
              <a:gd name="adj" fmla="val 3684"/>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Unknown is never a pass circle"/>
          <p:cNvSpPr/>
          <p:nvPr/>
        </p:nvSpPr>
        <p:spPr>
          <a:xfrm>
            <a:off x="868680" y="2194560"/>
            <a:ext cx="777240" cy="777240"/>
          </a:xfrm>
          <a:prstGeom prst="ellipse">
            <a:avLst/>
          </a:prstGeom>
          <a:solidFill>
            <a:srgbClr val="FFF7E0"/>
          </a:solidFill>
          <a:ln/>
        </p:spPr>
      </p:sp>
      <p:pic>
        <p:nvPicPr>
          <p:cNvPr id="6" name="Unknown is never a pass icon" descr="Unknown is never a pass">    </p:cNvPr>
          <p:cNvPicPr>
            <a:picLocks noChangeAspect="1"/>
          </p:cNvPicPr>
          <p:nvPr/>
        </p:nvPicPr>
        <p:blipFill>
          <a:blip r:embed="rId1"/>
          <a:stretch>
            <a:fillRect/>
          </a:stretch>
        </p:blipFill>
        <p:spPr>
          <a:xfrm>
            <a:off x="1039673" y="2365553"/>
            <a:ext cx="435254" cy="435254"/>
          </a:xfrm>
          <a:prstGeom prst="rect">
            <a:avLst/>
          </a:prstGeom>
        </p:spPr>
      </p:pic>
      <p:sp>
        <p:nvSpPr>
          <p:cNvPr id="7" name="Text 4"/>
          <p:cNvSpPr txBox="1"/>
          <p:nvPr/>
        </p:nvSpPr>
        <p:spPr>
          <a:xfrm>
            <a:off x="868680" y="3200400"/>
            <a:ext cx="2880360" cy="777240"/>
          </a:xfrm>
          <a:prstGeom prst="rect">
            <a:avLst/>
          </a:prstGeom>
          <a:noFill/>
          <a:ln/>
        </p:spPr>
        <p:txBody>
          <a:bodyPr wrap="square" lIns="0" tIns="0" rIns="0" bIns="0" rtlCol="0" anchor="t"/>
          <a:lstStyle/>
          <a:p>
            <a:pPr indent="0" marL="0">
              <a:buNone/>
            </a:pPr>
            <a:r>
              <a:rPr lang="en-US" sz="2200" b="1" dirty="0">
                <a:solidFill>
                  <a:schemeClr val="tx1"/>
                </a:solidFill>
              </a:rPr>
              <a:t>Unknown is never a pass</a:t>
            </a:r>
            <a:endParaRPr lang="en-US" sz="2200" dirty="0"/>
          </a:p>
        </p:txBody>
      </p:sp>
      <p:sp>
        <p:nvSpPr>
          <p:cNvPr id="8" name="Text 5"/>
          <p:cNvSpPr txBox="1"/>
          <p:nvPr/>
        </p:nvSpPr>
        <p:spPr>
          <a:xfrm>
            <a:off x="868680" y="4023360"/>
            <a:ext cx="2880360" cy="1234440"/>
          </a:xfrm>
          <a:prstGeom prst="rect">
            <a:avLst/>
          </a:prstGeom>
          <a:noFill/>
          <a:ln/>
        </p:spPr>
        <p:txBody>
          <a:bodyPr wrap="square" lIns="0" tIns="0" rIns="0" bIns="0" rtlCol="0" anchor="t"/>
          <a:lstStyle/>
          <a:p>
            <a:pPr indent="0" marL="0">
              <a:buNone/>
            </a:pPr>
            <a:r>
              <a:rPr lang="en-US" sz="1700" dirty="0">
                <a:solidFill>
                  <a:schemeClr val="tx2"/>
                </a:solidFill>
              </a:rPr>
              <a:t>If a permission isn't described, the result is incomplete and the check fails.</a:t>
            </a:r>
            <a:endParaRPr lang="en-US" sz="1700" dirty="0"/>
          </a:p>
        </p:txBody>
      </p:sp>
      <p:sp>
        <p:nvSpPr>
          <p:cNvPr id="9" name="Synthetic data only"/>
          <p:cNvSpPr/>
          <p:nvPr/>
        </p:nvSpPr>
        <p:spPr>
          <a:xfrm>
            <a:off x="4357116" y="1874520"/>
            <a:ext cx="3474720" cy="3520440"/>
          </a:xfrm>
          <a:prstGeom prst="roundRect">
            <a:avLst>
              <a:gd name="adj" fmla="val 3684"/>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0" name="Synthetic data only circle"/>
          <p:cNvSpPr/>
          <p:nvPr/>
        </p:nvSpPr>
        <p:spPr>
          <a:xfrm>
            <a:off x="4677156" y="2194560"/>
            <a:ext cx="777240" cy="777240"/>
          </a:xfrm>
          <a:prstGeom prst="ellipse">
            <a:avLst/>
          </a:prstGeom>
          <a:solidFill>
            <a:srgbClr val="EEF0FF"/>
          </a:solidFill>
          <a:ln/>
        </p:spPr>
      </p:sp>
      <p:pic>
        <p:nvPicPr>
          <p:cNvPr id="11" name="Synthetic data only icon" descr="Synthetic data only">    </p:cNvPr>
          <p:cNvPicPr>
            <a:picLocks noChangeAspect="1"/>
          </p:cNvPicPr>
          <p:nvPr/>
        </p:nvPicPr>
        <p:blipFill>
          <a:blip r:embed="rId2"/>
          <a:stretch>
            <a:fillRect/>
          </a:stretch>
        </p:blipFill>
        <p:spPr>
          <a:xfrm>
            <a:off x="4848149" y="2365553"/>
            <a:ext cx="435254" cy="435254"/>
          </a:xfrm>
          <a:prstGeom prst="rect">
            <a:avLst/>
          </a:prstGeom>
        </p:spPr>
      </p:pic>
      <p:sp>
        <p:nvSpPr>
          <p:cNvPr id="12" name="Text 8"/>
          <p:cNvSpPr txBox="1"/>
          <p:nvPr/>
        </p:nvSpPr>
        <p:spPr>
          <a:xfrm>
            <a:off x="4677156" y="3200400"/>
            <a:ext cx="2880360" cy="777240"/>
          </a:xfrm>
          <a:prstGeom prst="rect">
            <a:avLst/>
          </a:prstGeom>
          <a:noFill/>
          <a:ln/>
        </p:spPr>
        <p:txBody>
          <a:bodyPr wrap="square" lIns="0" tIns="0" rIns="0" bIns="0" rtlCol="0" anchor="t"/>
          <a:lstStyle/>
          <a:p>
            <a:pPr indent="0" marL="0">
              <a:buNone/>
            </a:pPr>
            <a:r>
              <a:rPr lang="en-US" sz="2200" b="1" dirty="0">
                <a:solidFill>
                  <a:schemeClr val="tx1"/>
                </a:solidFill>
              </a:rPr>
              <a:t>Synthetic data only</a:t>
            </a:r>
            <a:endParaRPr lang="en-US" sz="2200" dirty="0"/>
          </a:p>
        </p:txBody>
      </p:sp>
      <p:sp>
        <p:nvSpPr>
          <p:cNvPr id="13" name="Text 9"/>
          <p:cNvSpPr txBox="1"/>
          <p:nvPr/>
        </p:nvSpPr>
        <p:spPr>
          <a:xfrm>
            <a:off x="4677156" y="4023360"/>
            <a:ext cx="2880360" cy="1234440"/>
          </a:xfrm>
          <a:prstGeom prst="rect">
            <a:avLst/>
          </a:prstGeom>
          <a:noFill/>
          <a:ln/>
        </p:spPr>
        <p:txBody>
          <a:bodyPr wrap="square" lIns="0" tIns="0" rIns="0" bIns="0" rtlCol="0" anchor="t"/>
          <a:lstStyle/>
          <a:p>
            <a:pPr indent="0" marL="0">
              <a:buNone/>
            </a:pPr>
            <a:r>
              <a:rPr lang="en-US" sz="1700" dirty="0">
                <a:solidFill>
                  <a:schemeClr val="tx2"/>
                </a:solidFill>
              </a:rPr>
              <a:t>It never connects to a real AWS account. Nothing is deployed or run.</a:t>
            </a:r>
            <a:endParaRPr lang="en-US" sz="1700" dirty="0"/>
          </a:p>
        </p:txBody>
      </p:sp>
      <p:sp>
        <p:nvSpPr>
          <p:cNvPr id="14" name="The AI can't change the result"/>
          <p:cNvSpPr/>
          <p:nvPr/>
        </p:nvSpPr>
        <p:spPr>
          <a:xfrm>
            <a:off x="8165592" y="1874520"/>
            <a:ext cx="3474720" cy="3520440"/>
          </a:xfrm>
          <a:prstGeom prst="roundRect">
            <a:avLst>
              <a:gd name="adj" fmla="val 3684"/>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5" name="The AI can't change the result circle"/>
          <p:cNvSpPr/>
          <p:nvPr/>
        </p:nvSpPr>
        <p:spPr>
          <a:xfrm>
            <a:off x="8485632" y="2194560"/>
            <a:ext cx="777240" cy="777240"/>
          </a:xfrm>
          <a:prstGeom prst="ellipse">
            <a:avLst/>
          </a:prstGeom>
          <a:solidFill>
            <a:srgbClr val="E7F6EC"/>
          </a:solidFill>
          <a:ln/>
        </p:spPr>
      </p:sp>
      <p:pic>
        <p:nvPicPr>
          <p:cNvPr id="16" name="The AI can't change the result icon" descr="The AI can't change the result">    </p:cNvPr>
          <p:cNvPicPr>
            <a:picLocks noChangeAspect="1"/>
          </p:cNvPicPr>
          <p:nvPr/>
        </p:nvPicPr>
        <p:blipFill>
          <a:blip r:embed="rId3"/>
          <a:stretch>
            <a:fillRect/>
          </a:stretch>
        </p:blipFill>
        <p:spPr>
          <a:xfrm>
            <a:off x="8656625" y="2365553"/>
            <a:ext cx="435254" cy="435254"/>
          </a:xfrm>
          <a:prstGeom prst="rect">
            <a:avLst/>
          </a:prstGeom>
        </p:spPr>
      </p:pic>
      <p:sp>
        <p:nvSpPr>
          <p:cNvPr id="17" name="Text 12"/>
          <p:cNvSpPr txBox="1"/>
          <p:nvPr/>
        </p:nvSpPr>
        <p:spPr>
          <a:xfrm>
            <a:off x="8485632" y="3200400"/>
            <a:ext cx="2880360" cy="777240"/>
          </a:xfrm>
          <a:prstGeom prst="rect">
            <a:avLst/>
          </a:prstGeom>
          <a:noFill/>
          <a:ln/>
        </p:spPr>
        <p:txBody>
          <a:bodyPr wrap="square" lIns="0" tIns="0" rIns="0" bIns="0" rtlCol="0" anchor="t"/>
          <a:lstStyle/>
          <a:p>
            <a:pPr indent="0" marL="0">
              <a:buNone/>
            </a:pPr>
            <a:r>
              <a:rPr lang="en-US" sz="2200" b="1" dirty="0">
                <a:solidFill>
                  <a:schemeClr val="tx1"/>
                </a:solidFill>
              </a:rPr>
              <a:t>The AI can't change the result</a:t>
            </a:r>
            <a:endParaRPr lang="en-US" sz="2200" dirty="0"/>
          </a:p>
        </p:txBody>
      </p:sp>
      <p:sp>
        <p:nvSpPr>
          <p:cNvPr id="18" name="Text 13"/>
          <p:cNvSpPr txBox="1"/>
          <p:nvPr/>
        </p:nvSpPr>
        <p:spPr>
          <a:xfrm>
            <a:off x="8485632" y="4023360"/>
            <a:ext cx="2880360" cy="1234440"/>
          </a:xfrm>
          <a:prstGeom prst="rect">
            <a:avLst/>
          </a:prstGeom>
          <a:noFill/>
          <a:ln/>
        </p:spPr>
        <p:txBody>
          <a:bodyPr wrap="square" lIns="0" tIns="0" rIns="0" bIns="0" rtlCol="0" anchor="t"/>
          <a:lstStyle/>
          <a:p>
            <a:pPr indent="0" marL="0">
              <a:buNone/>
            </a:pPr>
            <a:r>
              <a:rPr lang="en-US" sz="1700" dirty="0">
                <a:solidFill>
                  <a:schemeClr val="tx2"/>
                </a:solidFill>
              </a:rPr>
              <a:t>Every reply is validated. Anything unsupported is thrown away.</a:t>
            </a:r>
            <a:endParaRPr lang="en-US" sz="1700" dirty="0"/>
          </a:p>
        </p:txBody>
      </p:sp>
      <p:sp>
        <p:nvSpPr>
          <p:cNvPr id="19" name="Text 14"/>
          <p:cNvSpPr txBox="1"/>
          <p:nvPr/>
        </p:nvSpPr>
        <p:spPr>
          <a:xfrm>
            <a:off x="548640" y="5596128"/>
            <a:ext cx="11091672" cy="457200"/>
          </a:xfrm>
          <a:prstGeom prst="rect">
            <a:avLst/>
          </a:prstGeom>
          <a:noFill/>
          <a:ln/>
        </p:spPr>
        <p:txBody>
          <a:bodyPr wrap="square" lIns="0" tIns="0" rIns="0" bIns="0" rtlCol="0" anchor="ctr"/>
          <a:lstStyle/>
          <a:p>
            <a:pPr indent="0" marL="0">
              <a:buNone/>
            </a:pPr>
            <a:r>
              <a:rPr lang="en-US" sz="1900" i="1" dirty="0">
                <a:solidFill>
                  <a:schemeClr val="tx2"/>
                </a:solidFill>
              </a:rPr>
              <a:t>We say </a:t>
            </a:r>
            <a:pPr indent="0" marL="0">
              <a:buNone/>
            </a:pPr>
            <a:r>
              <a:rPr lang="en-US" sz="1900" b="1" i="1" dirty="0">
                <a:solidFill>
                  <a:schemeClr val="tx1"/>
                </a:solidFill>
              </a:rPr>
              <a:t>“verified in this model”</a:t>
            </a:r>
            <a:pPr indent="0" marL="0">
              <a:buNone/>
            </a:pPr>
            <a:r>
              <a:rPr lang="en-US" sz="1900" i="1" dirty="0">
                <a:solidFill>
                  <a:schemeClr val="tx2"/>
                </a:solidFill>
              </a:rPr>
              <a:t>, never “secure”.</a:t>
            </a:r>
            <a:endParaRPr lang="en-US" sz="1900" dirty="0"/>
          </a:p>
        </p:txBody>
      </p:sp>
    </p:spTree>
  </p:cSld>
  <p:clrMapOvr>
    <a:masterClrMapping/>
  </p:clrMapOvr>
  <p:transition spd="med" advTm="110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65760"/>
            <a:ext cx="8229600" cy="310896"/>
          </a:xfrm>
          <a:prstGeom prst="rect">
            <a:avLst/>
          </a:prstGeom>
          <a:noFill/>
          <a:ln/>
        </p:spPr>
        <p:txBody>
          <a:bodyPr wrap="square" lIns="0" tIns="0" rIns="0" bIns="0" rtlCol="0" anchor="ctr"/>
          <a:lstStyle/>
          <a:p>
            <a:pPr indent="0" marL="0">
              <a:buNone/>
            </a:pPr>
            <a:r>
              <a:rPr lang="en-US" sz="1600" b="1" dirty="0">
                <a:solidFill>
                  <a:schemeClr val="accent1"/>
                </a:solidFill>
              </a:rPr>
              <a:t>Under the hood</a:t>
            </a:r>
            <a:endParaRPr lang="en-US" sz="1600" dirty="0"/>
          </a:p>
        </p:txBody>
      </p:sp>
      <p:sp>
        <p:nvSpPr>
          <p:cNvPr id="3" name="Text 0"/>
          <p:cNvSpPr/>
          <p:nvPr>
            <p:ph idx="100" type="title" hasCustomPrompt="1"/>
          </p:nvPr>
        </p:nvSpPr>
        <p:spPr>
          <a:xfrm>
            <a:off x="548640" y="713232"/>
            <a:ext cx="11091672" cy="777240"/>
          </a:xfrm>
          <a:prstGeom prst="rect">
            <a:avLst/>
          </a:prstGeom>
          <a:noFill/>
          <a:ln/>
        </p:spPr>
        <p:txBody>
          <a:bodyPr wrap="square" lIns="0" tIns="0" rIns="0" bIns="0" rtlCol="0" anchor="t"/>
          <a:lstStyle/>
          <a:p>
            <a:pPr algn="l" indent="0" marL="0">
              <a:buNone/>
            </a:pPr>
            <a:r>
              <a:rPr lang="en-US" sz="3600" b="1" dirty="0">
                <a:solidFill>
                  <a:schemeClr val="tx1"/>
                </a:solidFill>
              </a:rPr>
              <a:t>How it is built</a:t>
            </a:r>
            <a:endParaRPr lang="en-US" sz="3600" dirty="0"/>
          </a:p>
        </p:txBody>
      </p:sp>
      <p:sp>
        <p:nvSpPr>
          <p:cNvPr id="4" name="Snapshots"/>
          <p:cNvSpPr/>
          <p:nvPr/>
        </p:nvSpPr>
        <p:spPr>
          <a:xfrm>
            <a:off x="548640" y="1874520"/>
            <a:ext cx="2514600" cy="2148840"/>
          </a:xfrm>
          <a:prstGeom prst="roundRect">
            <a:avLst>
              <a:gd name="adj" fmla="val 5957"/>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5" name="Snapshots circle"/>
          <p:cNvSpPr/>
          <p:nvPr/>
        </p:nvSpPr>
        <p:spPr>
          <a:xfrm>
            <a:off x="804672" y="2103120"/>
            <a:ext cx="548640" cy="548640"/>
          </a:xfrm>
          <a:prstGeom prst="ellipse">
            <a:avLst/>
          </a:prstGeom>
          <a:solidFill>
            <a:srgbClr val="EEF0FF"/>
          </a:solidFill>
          <a:ln/>
        </p:spPr>
      </p:sp>
      <p:pic>
        <p:nvPicPr>
          <p:cNvPr id="6" name="Snapshots icon" descr="Snapshots">    </p:cNvPr>
          <p:cNvPicPr>
            <a:picLocks noChangeAspect="1"/>
          </p:cNvPicPr>
          <p:nvPr/>
        </p:nvPicPr>
        <p:blipFill>
          <a:blip r:embed="rId1"/>
          <a:stretch>
            <a:fillRect/>
          </a:stretch>
        </p:blipFill>
        <p:spPr>
          <a:xfrm>
            <a:off x="925373" y="2223821"/>
            <a:ext cx="307238" cy="307238"/>
          </a:xfrm>
          <a:prstGeom prst="rect">
            <a:avLst/>
          </a:prstGeom>
        </p:spPr>
      </p:pic>
      <p:sp>
        <p:nvSpPr>
          <p:cNvPr id="7" name="Text 4"/>
          <p:cNvSpPr txBox="1"/>
          <p:nvPr/>
        </p:nvSpPr>
        <p:spPr>
          <a:xfrm>
            <a:off x="804672" y="2788920"/>
            <a:ext cx="2103120" cy="365760"/>
          </a:xfrm>
          <a:prstGeom prst="rect">
            <a:avLst/>
          </a:prstGeom>
          <a:noFill/>
          <a:ln/>
        </p:spPr>
        <p:txBody>
          <a:bodyPr wrap="square" lIns="0" tIns="0" rIns="0" bIns="0" rtlCol="0" anchor="t"/>
          <a:lstStyle/>
          <a:p>
            <a:pPr indent="0" marL="0">
              <a:buNone/>
            </a:pPr>
            <a:r>
              <a:rPr lang="en-US" sz="2000" b="1" dirty="0">
                <a:solidFill>
                  <a:schemeClr val="tx1"/>
                </a:solidFill>
              </a:rPr>
              <a:t>Snapshots</a:t>
            </a:r>
            <a:endParaRPr lang="en-US" sz="2000" dirty="0"/>
          </a:p>
        </p:txBody>
      </p:sp>
      <p:sp>
        <p:nvSpPr>
          <p:cNvPr id="8" name="Text 5"/>
          <p:cNvSpPr txBox="1"/>
          <p:nvPr/>
        </p:nvSpPr>
        <p:spPr>
          <a:xfrm>
            <a:off x="804672" y="3200400"/>
            <a:ext cx="2103120" cy="731520"/>
          </a:xfrm>
          <a:prstGeom prst="rect">
            <a:avLst/>
          </a:prstGeom>
          <a:noFill/>
          <a:ln/>
        </p:spPr>
        <p:txBody>
          <a:bodyPr wrap="square" lIns="0" tIns="0" rIns="0" bIns="0" rtlCol="0" anchor="t"/>
          <a:lstStyle/>
          <a:p>
            <a:pPr indent="0" marL="0">
              <a:buNone/>
            </a:pPr>
            <a:r>
              <a:rPr lang="en-US" sz="1500" dirty="0">
                <a:solidFill>
                  <a:schemeClr val="tx2"/>
                </a:solidFill>
              </a:rPr>
              <a:t>Before and after, as synthetic JSON</a:t>
            </a:r>
            <a:endParaRPr lang="en-US" sz="1500" dirty="0"/>
          </a:p>
        </p:txBody>
      </p:sp>
      <p:sp>
        <p:nvSpPr>
          <p:cNvPr id="9" name="Arrow"/>
          <p:cNvSpPr/>
          <p:nvPr/>
        </p:nvSpPr>
        <p:spPr>
          <a:xfrm>
            <a:off x="3127248" y="2944368"/>
            <a:ext cx="420624" cy="0"/>
          </a:xfrm>
          <a:prstGeom prst="line">
            <a:avLst/>
          </a:prstGeom>
          <a:noFill/>
          <a:ln w="31750">
            <a:solidFill>
              <a:schemeClr val="accent1"/>
            </a:solidFill>
            <a:prstDash val="solid"/>
            <a:tailEnd type="triangle"/>
          </a:ln>
        </p:spPr>
      </p:sp>
      <p:sp>
        <p:nvSpPr>
          <p:cNvPr id="10" name="Engine"/>
          <p:cNvSpPr/>
          <p:nvPr/>
        </p:nvSpPr>
        <p:spPr>
          <a:xfrm>
            <a:off x="3611880" y="1874520"/>
            <a:ext cx="3200400" cy="2148840"/>
          </a:xfrm>
          <a:prstGeom prst="roundRect">
            <a:avLst>
              <a:gd name="adj" fmla="val 5957"/>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1" name="Python engine circle"/>
          <p:cNvSpPr/>
          <p:nvPr/>
        </p:nvSpPr>
        <p:spPr>
          <a:xfrm>
            <a:off x="3867912" y="2103120"/>
            <a:ext cx="548640" cy="548640"/>
          </a:xfrm>
          <a:prstGeom prst="ellipse">
            <a:avLst/>
          </a:prstGeom>
          <a:solidFill>
            <a:srgbClr val="EEF0FF"/>
          </a:solidFill>
          <a:ln/>
        </p:spPr>
      </p:sp>
      <p:pic>
        <p:nvPicPr>
          <p:cNvPr id="12" name="Python engine icon" descr="Python engine">    </p:cNvPr>
          <p:cNvPicPr>
            <a:picLocks noChangeAspect="1"/>
          </p:cNvPicPr>
          <p:nvPr/>
        </p:nvPicPr>
        <p:blipFill>
          <a:blip r:embed="rId2"/>
          <a:stretch>
            <a:fillRect/>
          </a:stretch>
        </p:blipFill>
        <p:spPr>
          <a:xfrm>
            <a:off x="3988613" y="2223821"/>
            <a:ext cx="307238" cy="307238"/>
          </a:xfrm>
          <a:prstGeom prst="rect">
            <a:avLst/>
          </a:prstGeom>
        </p:spPr>
      </p:pic>
      <p:sp>
        <p:nvSpPr>
          <p:cNvPr id="13" name="Text 9"/>
          <p:cNvSpPr txBox="1"/>
          <p:nvPr/>
        </p:nvSpPr>
        <p:spPr>
          <a:xfrm>
            <a:off x="3867912" y="2788920"/>
            <a:ext cx="2743200" cy="365760"/>
          </a:xfrm>
          <a:prstGeom prst="rect">
            <a:avLst/>
          </a:prstGeom>
          <a:noFill/>
          <a:ln/>
        </p:spPr>
        <p:txBody>
          <a:bodyPr wrap="square" lIns="0" tIns="0" rIns="0" bIns="0" rtlCol="0" anchor="t"/>
          <a:lstStyle/>
          <a:p>
            <a:pPr indent="0" marL="0">
              <a:buNone/>
            </a:pPr>
            <a:r>
              <a:rPr lang="en-US" sz="2000" b="1" dirty="0">
                <a:solidFill>
                  <a:schemeClr val="tx1"/>
                </a:solidFill>
              </a:rPr>
              <a:t>Python engine</a:t>
            </a:r>
            <a:endParaRPr lang="en-US" sz="2000" dirty="0"/>
          </a:p>
        </p:txBody>
      </p:sp>
      <p:sp>
        <p:nvSpPr>
          <p:cNvPr id="14" name="Text 10"/>
          <p:cNvSpPr txBox="1"/>
          <p:nvPr/>
        </p:nvSpPr>
        <p:spPr>
          <a:xfrm>
            <a:off x="3867912" y="3200400"/>
            <a:ext cx="2743200" cy="731520"/>
          </a:xfrm>
          <a:prstGeom prst="rect">
            <a:avLst/>
          </a:prstGeom>
          <a:noFill/>
          <a:ln/>
        </p:spPr>
        <p:txBody>
          <a:bodyPr wrap="square" lIns="0" tIns="0" rIns="0" bIns="0" rtlCol="0" anchor="t"/>
          <a:lstStyle/>
          <a:p>
            <a:pPr indent="0" marL="0">
              <a:buNone/>
            </a:pPr>
            <a:r>
              <a:rPr lang="en-US" sz="1500" dirty="0">
                <a:solidFill>
                  <a:schemeClr val="tx2"/>
                </a:solidFill>
              </a:rPr>
              <a:t>Checks the input, finds routes with NetworkX, tests fixes</a:t>
            </a:r>
            <a:endParaRPr lang="en-US" sz="1500" dirty="0"/>
          </a:p>
        </p:txBody>
      </p:sp>
      <p:sp>
        <p:nvSpPr>
          <p:cNvPr id="15" name="Arrow"/>
          <p:cNvSpPr/>
          <p:nvPr/>
        </p:nvSpPr>
        <p:spPr>
          <a:xfrm>
            <a:off x="6876288" y="2944368"/>
            <a:ext cx="420624" cy="0"/>
          </a:xfrm>
          <a:prstGeom prst="line">
            <a:avLst/>
          </a:prstGeom>
          <a:noFill/>
          <a:ln w="31750">
            <a:solidFill>
              <a:schemeClr val="accent1"/>
            </a:solidFill>
            <a:prstDash val="solid"/>
            <a:tailEnd type="triangle"/>
          </a:ln>
        </p:spPr>
      </p:sp>
      <p:sp>
        <p:nvSpPr>
          <p:cNvPr id="16" name="Outputs"/>
          <p:cNvSpPr/>
          <p:nvPr/>
        </p:nvSpPr>
        <p:spPr>
          <a:xfrm>
            <a:off x="7360920" y="1874520"/>
            <a:ext cx="4279392" cy="2148840"/>
          </a:xfrm>
          <a:prstGeom prst="roundRect">
            <a:avLst>
              <a:gd name="adj" fmla="val 5957"/>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17" name="What you get circle"/>
          <p:cNvSpPr/>
          <p:nvPr/>
        </p:nvSpPr>
        <p:spPr>
          <a:xfrm>
            <a:off x="7616952" y="2103120"/>
            <a:ext cx="548640" cy="548640"/>
          </a:xfrm>
          <a:prstGeom prst="ellipse">
            <a:avLst/>
          </a:prstGeom>
          <a:solidFill>
            <a:srgbClr val="EEF0FF"/>
          </a:solidFill>
          <a:ln/>
        </p:spPr>
      </p:sp>
      <p:pic>
        <p:nvPicPr>
          <p:cNvPr id="18" name="What you get icon" descr="What you get">    </p:cNvPr>
          <p:cNvPicPr>
            <a:picLocks noChangeAspect="1"/>
          </p:cNvPicPr>
          <p:nvPr/>
        </p:nvPicPr>
        <p:blipFill>
          <a:blip r:embed="rId3"/>
          <a:stretch>
            <a:fillRect/>
          </a:stretch>
        </p:blipFill>
        <p:spPr>
          <a:xfrm>
            <a:off x="7737653" y="2223821"/>
            <a:ext cx="307238" cy="307238"/>
          </a:xfrm>
          <a:prstGeom prst="rect">
            <a:avLst/>
          </a:prstGeom>
        </p:spPr>
      </p:pic>
      <p:sp>
        <p:nvSpPr>
          <p:cNvPr id="19" name="Text 14"/>
          <p:cNvSpPr txBox="1"/>
          <p:nvPr/>
        </p:nvSpPr>
        <p:spPr>
          <a:xfrm>
            <a:off x="8348472" y="2103120"/>
            <a:ext cx="3108960" cy="548640"/>
          </a:xfrm>
          <a:prstGeom prst="rect">
            <a:avLst/>
          </a:prstGeom>
          <a:noFill/>
          <a:ln/>
        </p:spPr>
        <p:txBody>
          <a:bodyPr wrap="square" lIns="0" tIns="0" rIns="0" bIns="0" rtlCol="0" anchor="ctr"/>
          <a:lstStyle/>
          <a:p>
            <a:pPr indent="0" marL="0">
              <a:buNone/>
            </a:pPr>
            <a:r>
              <a:rPr lang="en-US" sz="2000" b="1" dirty="0">
                <a:solidFill>
                  <a:schemeClr val="tx1"/>
                </a:solidFill>
              </a:rPr>
              <a:t>What you get</a:t>
            </a:r>
            <a:endParaRPr lang="en-US" sz="2000" dirty="0"/>
          </a:p>
        </p:txBody>
      </p:sp>
      <p:sp>
        <p:nvSpPr>
          <p:cNvPr id="20" name="Chip: GitHub Actions check"/>
          <p:cNvSpPr/>
          <p:nvPr/>
        </p:nvSpPr>
        <p:spPr>
          <a:xfrm>
            <a:off x="7616952" y="2880360"/>
            <a:ext cx="1901952" cy="384048"/>
          </a:xfrm>
          <a:prstGeom prst="roundRect">
            <a:avLst>
              <a:gd name="adj" fmla="val 50000"/>
            </a:avLst>
          </a:prstGeom>
          <a:solidFill>
            <a:srgbClr val="EEF0FF"/>
          </a:solidFill>
          <a:ln/>
        </p:spPr>
        <p:txBody>
          <a:bodyPr wrap="square" lIns="0" tIns="0" rIns="0" bIns="0" rtlCol="0" anchor="ctr"/>
          <a:lstStyle/>
          <a:p>
            <a:pPr algn="ctr" indent="0" marL="0">
              <a:buNone/>
            </a:pPr>
            <a:r>
              <a:rPr lang="en-US" sz="1300" b="1" dirty="0">
                <a:solidFill>
                  <a:srgbClr val="4044F0"/>
                </a:solidFill>
              </a:rPr>
              <a:t>GitHub Actions check</a:t>
            </a:r>
            <a:endParaRPr lang="en-US" sz="1300" dirty="0"/>
          </a:p>
        </p:txBody>
      </p:sp>
      <p:sp>
        <p:nvSpPr>
          <p:cNvPr id="21" name="Chip: Streamlit app"/>
          <p:cNvSpPr/>
          <p:nvPr/>
        </p:nvSpPr>
        <p:spPr>
          <a:xfrm>
            <a:off x="9610344" y="2880360"/>
            <a:ext cx="1901952" cy="384048"/>
          </a:xfrm>
          <a:prstGeom prst="roundRect">
            <a:avLst>
              <a:gd name="adj" fmla="val 50000"/>
            </a:avLst>
          </a:prstGeom>
          <a:solidFill>
            <a:srgbClr val="EEF0FF"/>
          </a:solidFill>
          <a:ln/>
        </p:spPr>
        <p:txBody>
          <a:bodyPr wrap="square" lIns="0" tIns="0" rIns="0" bIns="0" rtlCol="0" anchor="ctr"/>
          <a:lstStyle/>
          <a:p>
            <a:pPr algn="ctr" indent="0" marL="0">
              <a:buNone/>
            </a:pPr>
            <a:r>
              <a:rPr lang="en-US" sz="1300" b="1" dirty="0">
                <a:solidFill>
                  <a:srgbClr val="4044F0"/>
                </a:solidFill>
              </a:rPr>
              <a:t>Streamlit app</a:t>
            </a:r>
            <a:endParaRPr lang="en-US" sz="1300" dirty="0"/>
          </a:p>
        </p:txBody>
      </p:sp>
      <p:sp>
        <p:nvSpPr>
          <p:cNvPr id="22" name="Chip: Live demo on Vercel"/>
          <p:cNvSpPr/>
          <p:nvPr/>
        </p:nvSpPr>
        <p:spPr>
          <a:xfrm>
            <a:off x="7616952" y="3383280"/>
            <a:ext cx="1901952" cy="384048"/>
          </a:xfrm>
          <a:prstGeom prst="roundRect">
            <a:avLst>
              <a:gd name="adj" fmla="val 50000"/>
            </a:avLst>
          </a:prstGeom>
          <a:solidFill>
            <a:srgbClr val="EEF0FF"/>
          </a:solidFill>
          <a:ln/>
        </p:spPr>
        <p:txBody>
          <a:bodyPr wrap="square" lIns="0" tIns="0" rIns="0" bIns="0" rtlCol="0" anchor="ctr"/>
          <a:lstStyle/>
          <a:p>
            <a:pPr algn="ctr" indent="0" marL="0">
              <a:buNone/>
            </a:pPr>
            <a:r>
              <a:rPr lang="en-US" sz="1300" b="1" dirty="0">
                <a:solidFill>
                  <a:srgbClr val="4044F0"/>
                </a:solidFill>
              </a:rPr>
              <a:t>Live demo on Vercel</a:t>
            </a:r>
            <a:endParaRPr lang="en-US" sz="1300" dirty="0"/>
          </a:p>
        </p:txBody>
      </p:sp>
      <p:sp>
        <p:nvSpPr>
          <p:cNvPr id="23" name="Chip: Markdown report"/>
          <p:cNvSpPr/>
          <p:nvPr/>
        </p:nvSpPr>
        <p:spPr>
          <a:xfrm>
            <a:off x="9610344" y="3383280"/>
            <a:ext cx="1901952" cy="384048"/>
          </a:xfrm>
          <a:prstGeom prst="roundRect">
            <a:avLst>
              <a:gd name="adj" fmla="val 50000"/>
            </a:avLst>
          </a:prstGeom>
          <a:solidFill>
            <a:srgbClr val="EEF0FF"/>
          </a:solidFill>
          <a:ln/>
        </p:spPr>
        <p:txBody>
          <a:bodyPr wrap="square" lIns="0" tIns="0" rIns="0" bIns="0" rtlCol="0" anchor="ctr"/>
          <a:lstStyle/>
          <a:p>
            <a:pPr algn="ctr" indent="0" marL="0">
              <a:buNone/>
            </a:pPr>
            <a:r>
              <a:rPr lang="en-US" sz="1300" b="1" dirty="0">
                <a:solidFill>
                  <a:srgbClr val="4044F0"/>
                </a:solidFill>
              </a:rPr>
              <a:t>Markdown report</a:t>
            </a:r>
            <a:endParaRPr lang="en-US" sz="1300" dirty="0"/>
          </a:p>
        </p:txBody>
      </p:sp>
      <p:sp>
        <p:nvSpPr>
          <p:cNvPr id="24" name="Engine to Bedrock"/>
          <p:cNvSpPr/>
          <p:nvPr/>
        </p:nvSpPr>
        <p:spPr>
          <a:xfrm>
            <a:off x="5212080" y="4041648"/>
            <a:ext cx="0" cy="365760"/>
          </a:xfrm>
          <a:prstGeom prst="line">
            <a:avLst/>
          </a:prstGeom>
          <a:noFill/>
          <a:ln w="25400">
            <a:solidFill>
              <a:schemeClr val="accent1"/>
            </a:solidFill>
            <a:prstDash val="dash"/>
            <a:headEnd type="triangle"/>
            <a:tailEnd type="triangle"/>
          </a:ln>
        </p:spPr>
      </p:sp>
      <p:sp>
        <p:nvSpPr>
          <p:cNvPr id="25" name="Bedrock box"/>
          <p:cNvSpPr/>
          <p:nvPr/>
        </p:nvSpPr>
        <p:spPr>
          <a:xfrm>
            <a:off x="548640" y="4434840"/>
            <a:ext cx="6263640" cy="1463040"/>
          </a:xfrm>
          <a:prstGeom prst="roundRect">
            <a:avLst>
              <a:gd name="adj" fmla="val 8750"/>
            </a:avLst>
          </a:prstGeom>
          <a:solidFill>
            <a:srgbClr val="EEF0FF"/>
          </a:solidFill>
          <a:ln w="15875">
            <a:solidFill>
              <a:schemeClr val="accent1"/>
            </a:solidFill>
            <a:prstDash val="solid"/>
          </a:ln>
        </p:spPr>
      </p:sp>
      <p:sp>
        <p:nvSpPr>
          <p:cNvPr id="26" name="Amazon Bedrock circle"/>
          <p:cNvSpPr/>
          <p:nvPr/>
        </p:nvSpPr>
        <p:spPr>
          <a:xfrm>
            <a:off x="804672" y="4892040"/>
            <a:ext cx="548640" cy="548640"/>
          </a:xfrm>
          <a:prstGeom prst="ellipse">
            <a:avLst/>
          </a:prstGeom>
          <a:solidFill>
            <a:schemeClr val="accent1"/>
          </a:solidFill>
          <a:ln/>
        </p:spPr>
      </p:sp>
      <p:pic>
        <p:nvPicPr>
          <p:cNvPr id="27" name="Amazon Bedrock icon" descr="Amazon Bedrock">    </p:cNvPr>
          <p:cNvPicPr>
            <a:picLocks noChangeAspect="1"/>
          </p:cNvPicPr>
          <p:nvPr/>
        </p:nvPicPr>
        <p:blipFill>
          <a:blip r:embed="rId4"/>
          <a:stretch>
            <a:fillRect/>
          </a:stretch>
        </p:blipFill>
        <p:spPr>
          <a:xfrm>
            <a:off x="925373" y="5012741"/>
            <a:ext cx="307238" cy="307238"/>
          </a:xfrm>
          <a:prstGeom prst="rect">
            <a:avLst/>
          </a:prstGeom>
        </p:spPr>
      </p:pic>
      <p:sp>
        <p:nvSpPr>
          <p:cNvPr id="28" name="Text 22"/>
          <p:cNvSpPr txBox="1"/>
          <p:nvPr/>
        </p:nvSpPr>
        <p:spPr>
          <a:xfrm>
            <a:off x="1581912" y="4434840"/>
            <a:ext cx="5029200" cy="1463040"/>
          </a:xfrm>
          <a:prstGeom prst="rect">
            <a:avLst/>
          </a:prstGeom>
          <a:noFill/>
          <a:ln/>
        </p:spPr>
        <p:txBody>
          <a:bodyPr wrap="square" lIns="0" tIns="0" rIns="0" bIns="0" rtlCol="0" anchor="ctr"/>
          <a:lstStyle/>
          <a:p>
            <a:pPr indent="0" marL="0">
              <a:spcAft>
                <a:spcPts val="600"/>
              </a:spcAft>
              <a:buNone/>
            </a:pPr>
            <a:r>
              <a:rPr lang="en-US" sz="2000" b="1" dirty="0">
                <a:solidFill>
                  <a:schemeClr val="tx1"/>
                </a:solidFill>
              </a:rPr>
              <a:t>Amazon Bedrock · Amazon Nova Pro</a:t>
            </a:r>
            <a:endParaRPr lang="en-US" sz="1600" dirty="0"/>
          </a:p>
          <a:p>
            <a:pPr indent="0" marL="0">
              <a:spcAft>
                <a:spcPts val="600"/>
              </a:spcAft>
              <a:buNone/>
            </a:pPr>
            <a:r>
              <a:rPr lang="en-US" sz="1600" dirty="0">
                <a:solidFill>
                  <a:schemeClr val="tx2"/>
                </a:solidFill>
              </a:rPr>
              <a:t>Called through the Converse API only to write the explanation. Its only AWS call.</a:t>
            </a:r>
            <a:endParaRPr lang="en-US" sz="1600" dirty="0"/>
          </a:p>
        </p:txBody>
      </p:sp>
      <p:sp>
        <p:nvSpPr>
          <p:cNvPr id="29" name="Stats"/>
          <p:cNvSpPr/>
          <p:nvPr/>
        </p:nvSpPr>
        <p:spPr>
          <a:xfrm>
            <a:off x="7360920" y="4434840"/>
            <a:ext cx="4279392" cy="1463040"/>
          </a:xfrm>
          <a:prstGeom prst="roundRect">
            <a:avLst>
              <a:gd name="adj" fmla="val 8750"/>
            </a:avLst>
          </a:prstGeom>
          <a:solidFill>
            <a:schemeClr val="bg1"/>
          </a:solidFill>
          <a:ln w="9525">
            <a:solidFill>
              <a:srgbClr val="E2E2E8"/>
            </a:solidFill>
            <a:prstDash val="solid"/>
          </a:ln>
          <a:effectLst>
            <a:outerShdw sx="100000" sy="100000" kx="0" ky="0" algn="bl" rotWithShape="0" blurRad="127000" dist="25400" dir="5400000">
              <a:srgbClr val="000000">
                <a:alpha val="8000"/>
              </a:srgbClr>
            </a:outerShdw>
          </a:effectLst>
        </p:spPr>
      </p:sp>
      <p:sp>
        <p:nvSpPr>
          <p:cNvPr id="30" name="Text 24"/>
          <p:cNvSpPr txBox="1"/>
          <p:nvPr/>
        </p:nvSpPr>
        <p:spPr>
          <a:xfrm>
            <a:off x="7589520" y="4617720"/>
            <a:ext cx="1325880" cy="502920"/>
          </a:xfrm>
          <a:prstGeom prst="rect">
            <a:avLst/>
          </a:prstGeom>
          <a:noFill/>
          <a:ln/>
        </p:spPr>
        <p:txBody>
          <a:bodyPr wrap="square" lIns="0" tIns="0" rIns="0" bIns="0" rtlCol="0" anchor="t"/>
          <a:lstStyle/>
          <a:p>
            <a:pPr indent="0" marL="0">
              <a:buNone/>
            </a:pPr>
            <a:r>
              <a:rPr lang="en-US" sz="2600" b="1" dirty="0">
                <a:solidFill>
                  <a:schemeClr val="accent1"/>
                </a:solidFill>
              </a:rPr>
              <a:t>200+</a:t>
            </a:r>
            <a:endParaRPr lang="en-US" sz="2600" dirty="0"/>
          </a:p>
        </p:txBody>
      </p:sp>
      <p:sp>
        <p:nvSpPr>
          <p:cNvPr id="31" name="Text 25"/>
          <p:cNvSpPr txBox="1"/>
          <p:nvPr/>
        </p:nvSpPr>
        <p:spPr>
          <a:xfrm>
            <a:off x="7589520" y="5148072"/>
            <a:ext cx="1280160" cy="685800"/>
          </a:xfrm>
          <a:prstGeom prst="rect">
            <a:avLst/>
          </a:prstGeom>
          <a:noFill/>
          <a:ln/>
        </p:spPr>
        <p:txBody>
          <a:bodyPr wrap="square" lIns="0" tIns="0" rIns="0" bIns="0" rtlCol="0" anchor="t"/>
          <a:lstStyle/>
          <a:p>
            <a:pPr indent="0" marL="0">
              <a:buNone/>
            </a:pPr>
            <a:r>
              <a:rPr lang="en-US" sz="1300" dirty="0">
                <a:solidFill>
                  <a:schemeClr val="accent6"/>
                </a:solidFill>
              </a:rPr>
              <a:t>automated tests</a:t>
            </a:r>
            <a:endParaRPr lang="en-US" sz="1300" dirty="0"/>
          </a:p>
        </p:txBody>
      </p:sp>
      <p:sp>
        <p:nvSpPr>
          <p:cNvPr id="32" name="Text 26"/>
          <p:cNvSpPr txBox="1"/>
          <p:nvPr/>
        </p:nvSpPr>
        <p:spPr>
          <a:xfrm>
            <a:off x="8961120" y="4617720"/>
            <a:ext cx="1325880" cy="502920"/>
          </a:xfrm>
          <a:prstGeom prst="rect">
            <a:avLst/>
          </a:prstGeom>
          <a:noFill/>
          <a:ln/>
        </p:spPr>
        <p:txBody>
          <a:bodyPr wrap="square" lIns="0" tIns="0" rIns="0" bIns="0" rtlCol="0" anchor="t"/>
          <a:lstStyle/>
          <a:p>
            <a:pPr indent="0" marL="0">
              <a:buNone/>
            </a:pPr>
            <a:r>
              <a:rPr lang="en-US" sz="2600" b="1" dirty="0">
                <a:solidFill>
                  <a:schemeClr val="accent1"/>
                </a:solidFill>
              </a:rPr>
              <a:t>~10 ms</a:t>
            </a:r>
            <a:endParaRPr lang="en-US" sz="2600" dirty="0"/>
          </a:p>
        </p:txBody>
      </p:sp>
      <p:sp>
        <p:nvSpPr>
          <p:cNvPr id="33" name="Text 27"/>
          <p:cNvSpPr txBox="1"/>
          <p:nvPr/>
        </p:nvSpPr>
        <p:spPr>
          <a:xfrm>
            <a:off x="8961120" y="5148072"/>
            <a:ext cx="1280160" cy="685800"/>
          </a:xfrm>
          <a:prstGeom prst="rect">
            <a:avLst/>
          </a:prstGeom>
          <a:noFill/>
          <a:ln/>
        </p:spPr>
        <p:txBody>
          <a:bodyPr wrap="square" lIns="0" tIns="0" rIns="0" bIns="0" rtlCol="0" anchor="t"/>
          <a:lstStyle/>
          <a:p>
            <a:pPr indent="0" marL="0">
              <a:buNone/>
            </a:pPr>
            <a:r>
              <a:rPr lang="en-US" sz="1300" dirty="0">
                <a:solidFill>
                  <a:schemeClr val="accent6"/>
                </a:solidFill>
              </a:rPr>
              <a:t>per check</a:t>
            </a:r>
            <a:endParaRPr lang="en-US" sz="1300" dirty="0"/>
          </a:p>
        </p:txBody>
      </p:sp>
      <p:sp>
        <p:nvSpPr>
          <p:cNvPr id="34" name="Text 28"/>
          <p:cNvSpPr txBox="1"/>
          <p:nvPr/>
        </p:nvSpPr>
        <p:spPr>
          <a:xfrm>
            <a:off x="10332720" y="4617720"/>
            <a:ext cx="1325880" cy="502920"/>
          </a:xfrm>
          <a:prstGeom prst="rect">
            <a:avLst/>
          </a:prstGeom>
          <a:noFill/>
          <a:ln/>
        </p:spPr>
        <p:txBody>
          <a:bodyPr wrap="square" lIns="0" tIns="0" rIns="0" bIns="0" rtlCol="0" anchor="t"/>
          <a:lstStyle/>
          <a:p>
            <a:pPr indent="0" marL="0">
              <a:buNone/>
            </a:pPr>
            <a:r>
              <a:rPr lang="en-US" sz="2600" b="1" dirty="0">
                <a:solidFill>
                  <a:schemeClr val="accent1"/>
                </a:solidFill>
              </a:rPr>
              <a:t>10 / 10</a:t>
            </a:r>
            <a:endParaRPr lang="en-US" sz="2600" dirty="0"/>
          </a:p>
        </p:txBody>
      </p:sp>
      <p:sp>
        <p:nvSpPr>
          <p:cNvPr id="35" name="Text 29"/>
          <p:cNvSpPr txBox="1"/>
          <p:nvPr/>
        </p:nvSpPr>
        <p:spPr>
          <a:xfrm>
            <a:off x="10332720" y="5148072"/>
            <a:ext cx="1280160" cy="685800"/>
          </a:xfrm>
          <a:prstGeom prst="rect">
            <a:avLst/>
          </a:prstGeom>
          <a:noFill/>
          <a:ln/>
        </p:spPr>
        <p:txBody>
          <a:bodyPr wrap="square" lIns="0" tIns="0" rIns="0" bIns="0" rtlCol="0" anchor="t"/>
          <a:lstStyle/>
          <a:p>
            <a:pPr indent="0" marL="0">
              <a:buNone/>
            </a:pPr>
            <a:r>
              <a:rPr lang="en-US" sz="1300" dirty="0">
                <a:solidFill>
                  <a:schemeClr val="accent6"/>
                </a:solidFill>
              </a:rPr>
              <a:t>Nova Pro replies validated</a:t>
            </a:r>
            <a:endParaRPr lang="en-US" sz="1300" dirty="0"/>
          </a:p>
        </p:txBody>
      </p:sp>
    </p:spTree>
  </p:cSld>
  <p:clrMapOvr>
    <a:masterClrMapping/>
  </p:clrMapOvr>
  <p:transition spd="med" advTm="1200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132320" cy="2057400"/>
          </a:xfrm>
          <a:prstGeom prst="rect">
            <a:avLst/>
          </a:prstGeom>
          <a:noFill/>
          <a:ln/>
        </p:spPr>
        <p:txBody>
          <a:bodyPr wrap="square" lIns="0" tIns="0" rIns="0" bIns="0" rtlCol="0" anchor="t"/>
          <a:lstStyle/>
          <a:p>
            <a:pPr algn="l" indent="0" marL="0">
              <a:buNone/>
            </a:pPr>
            <a:r>
              <a:rPr lang="en-US" sz="4000" b="1" dirty="0">
                <a:solidFill>
                  <a:schemeClr val="bg1"/>
                </a:solidFill>
              </a:rPr>
              <a:t>Try it yourself</a:t>
            </a:r>
            <a:endParaRPr lang="en-US" sz="4000" dirty="0"/>
          </a:p>
        </p:txBody>
      </p:sp>
      <p:sp>
        <p:nvSpPr>
          <p:cNvPr id="3" name="Text 1"/>
          <p:cNvSpPr txBox="1"/>
          <p:nvPr/>
        </p:nvSpPr>
        <p:spPr>
          <a:xfrm>
            <a:off x="640080" y="2286000"/>
            <a:ext cx="6675120" cy="457200"/>
          </a:xfrm>
          <a:prstGeom prst="rect">
            <a:avLst/>
          </a:prstGeom>
          <a:noFill/>
          <a:ln/>
        </p:spPr>
        <p:txBody>
          <a:bodyPr wrap="square" lIns="0" tIns="0" rIns="0" bIns="0" rtlCol="0" anchor="t"/>
          <a:lstStyle/>
          <a:p>
            <a:pPr indent="0" marL="0">
              <a:buNone/>
            </a:pPr>
            <a:r>
              <a:rPr lang="en-US" sz="2000" dirty="0">
                <a:solidFill>
                  <a:srgbClr val="B9B9C9"/>
                </a:solidFill>
              </a:rPr>
              <a:t>Or ask us for a walkthrough right here.</a:t>
            </a:r>
            <a:endParaRPr lang="en-US" sz="2000" dirty="0"/>
          </a:p>
        </p:txBody>
      </p:sp>
      <p:sp>
        <p:nvSpPr>
          <p:cNvPr id="4" name="Live demo circle"/>
          <p:cNvSpPr/>
          <p:nvPr/>
        </p:nvSpPr>
        <p:spPr>
          <a:xfrm>
            <a:off x="640080" y="3063240"/>
            <a:ext cx="566928" cy="566928"/>
          </a:xfrm>
          <a:prstGeom prst="ellipse">
            <a:avLst/>
          </a:prstGeom>
          <a:solidFill>
            <a:schemeClr val="accent1"/>
          </a:solidFill>
          <a:ln/>
        </p:spPr>
      </p:sp>
      <p:pic>
        <p:nvPicPr>
          <p:cNvPr id="5" name="Live demo icon" descr="Live demo">    </p:cNvPr>
          <p:cNvPicPr>
            <a:picLocks noChangeAspect="1"/>
          </p:cNvPicPr>
          <p:nvPr/>
        </p:nvPicPr>
        <p:blipFill>
          <a:blip r:embed="rId1"/>
          <a:stretch>
            <a:fillRect/>
          </a:stretch>
        </p:blipFill>
        <p:spPr>
          <a:xfrm>
            <a:off x="764804" y="3187964"/>
            <a:ext cx="317480" cy="317480"/>
          </a:xfrm>
          <a:prstGeom prst="rect">
            <a:avLst/>
          </a:prstGeom>
        </p:spPr>
      </p:pic>
      <p:sp>
        <p:nvSpPr>
          <p:cNvPr id="6" name="Text 3"/>
          <p:cNvSpPr txBox="1"/>
          <p:nvPr/>
        </p:nvSpPr>
        <p:spPr>
          <a:xfrm>
            <a:off x="1417320" y="3026664"/>
            <a:ext cx="5943600" cy="658368"/>
          </a:xfrm>
          <a:prstGeom prst="rect">
            <a:avLst/>
          </a:prstGeom>
          <a:noFill/>
          <a:ln/>
        </p:spPr>
        <p:txBody>
          <a:bodyPr wrap="square" lIns="0" tIns="0" rIns="0" bIns="0" rtlCol="0" anchor="t"/>
          <a:lstStyle/>
          <a:p>
            <a:pPr indent="0" marL="0">
              <a:buNone/>
            </a:pPr>
            <a:r>
              <a:rPr lang="en-US" sz="1400" dirty="0">
                <a:solidFill>
                  <a:srgbClr val="B9B9C9"/>
                </a:solidFill>
              </a:rPr>
              <a:t>Live demo</a:t>
            </a:r>
            <a:endParaRPr lang="en-US" sz="1600" dirty="0"/>
          </a:p>
          <a:p>
            <a:pPr indent="0" marL="0">
              <a:buNone/>
            </a:pPr>
            <a:r>
              <a:rPr lang="en-US" sz="2000" b="1" dirty="0">
                <a:solidFill>
                  <a:srgbClr val="FFFFFF"/>
                </a:solidFill>
              </a:rPr>
              <a:t>attackgraph-ai.vercel.app/demo</a:t>
            </a:r>
            <a:endParaRPr lang="en-US" sz="1600" dirty="0"/>
          </a:p>
        </p:txBody>
      </p:sp>
      <p:sp>
        <p:nvSpPr>
          <p:cNvPr id="7" name="2½-minute video circle"/>
          <p:cNvSpPr/>
          <p:nvPr/>
        </p:nvSpPr>
        <p:spPr>
          <a:xfrm>
            <a:off x="640080" y="3840480"/>
            <a:ext cx="566928" cy="566928"/>
          </a:xfrm>
          <a:prstGeom prst="ellipse">
            <a:avLst/>
          </a:prstGeom>
          <a:solidFill>
            <a:schemeClr val="accent1"/>
          </a:solidFill>
          <a:ln/>
        </p:spPr>
      </p:sp>
      <p:pic>
        <p:nvPicPr>
          <p:cNvPr id="8" name="2½-minute video icon" descr="2½-minute video">    </p:cNvPr>
          <p:cNvPicPr>
            <a:picLocks noChangeAspect="1"/>
          </p:cNvPicPr>
          <p:nvPr/>
        </p:nvPicPr>
        <p:blipFill>
          <a:blip r:embed="rId2"/>
          <a:stretch>
            <a:fillRect/>
          </a:stretch>
        </p:blipFill>
        <p:spPr>
          <a:xfrm>
            <a:off x="764804" y="3965204"/>
            <a:ext cx="317480" cy="317480"/>
          </a:xfrm>
          <a:prstGeom prst="rect">
            <a:avLst/>
          </a:prstGeom>
        </p:spPr>
      </p:pic>
      <p:sp>
        <p:nvSpPr>
          <p:cNvPr id="9" name="Text 5"/>
          <p:cNvSpPr txBox="1"/>
          <p:nvPr/>
        </p:nvSpPr>
        <p:spPr>
          <a:xfrm>
            <a:off x="1417320" y="3803904"/>
            <a:ext cx="5943600" cy="658368"/>
          </a:xfrm>
          <a:prstGeom prst="rect">
            <a:avLst/>
          </a:prstGeom>
          <a:noFill/>
          <a:ln/>
        </p:spPr>
        <p:txBody>
          <a:bodyPr wrap="square" lIns="0" tIns="0" rIns="0" bIns="0" rtlCol="0" anchor="t"/>
          <a:lstStyle/>
          <a:p>
            <a:pPr indent="0" marL="0">
              <a:buNone/>
            </a:pPr>
            <a:r>
              <a:rPr lang="en-US" sz="1400" dirty="0">
                <a:solidFill>
                  <a:srgbClr val="B9B9C9"/>
                </a:solidFill>
              </a:rPr>
              <a:t>2½-minute video</a:t>
            </a:r>
            <a:endParaRPr lang="en-US" sz="1600" dirty="0"/>
          </a:p>
          <a:p>
            <a:pPr indent="0" marL="0">
              <a:buNone/>
            </a:pPr>
            <a:r>
              <a:rPr lang="en-US" sz="2000" b="1" dirty="0">
                <a:solidFill>
                  <a:srgbClr val="FFFFFF"/>
                </a:solidFill>
              </a:rPr>
              <a:t>youtu.be/dAE6y8M9iQI</a:t>
            </a:r>
            <a:endParaRPr lang="en-US" sz="1600" dirty="0"/>
          </a:p>
        </p:txBody>
      </p:sp>
      <p:sp>
        <p:nvSpPr>
          <p:cNvPr id="10" name="Source code circle"/>
          <p:cNvSpPr/>
          <p:nvPr/>
        </p:nvSpPr>
        <p:spPr>
          <a:xfrm>
            <a:off x="640080" y="4617720"/>
            <a:ext cx="566928" cy="566928"/>
          </a:xfrm>
          <a:prstGeom prst="ellipse">
            <a:avLst/>
          </a:prstGeom>
          <a:solidFill>
            <a:schemeClr val="accent1"/>
          </a:solidFill>
          <a:ln/>
        </p:spPr>
      </p:sp>
      <p:pic>
        <p:nvPicPr>
          <p:cNvPr id="11" name="Source code icon" descr="Source code">    </p:cNvPr>
          <p:cNvPicPr>
            <a:picLocks noChangeAspect="1"/>
          </p:cNvPicPr>
          <p:nvPr/>
        </p:nvPicPr>
        <p:blipFill>
          <a:blip r:embed="rId3"/>
          <a:stretch>
            <a:fillRect/>
          </a:stretch>
        </p:blipFill>
        <p:spPr>
          <a:xfrm>
            <a:off x="764804" y="4742444"/>
            <a:ext cx="317480" cy="317480"/>
          </a:xfrm>
          <a:prstGeom prst="rect">
            <a:avLst/>
          </a:prstGeom>
        </p:spPr>
      </p:pic>
      <p:sp>
        <p:nvSpPr>
          <p:cNvPr id="12" name="Text 7"/>
          <p:cNvSpPr txBox="1"/>
          <p:nvPr/>
        </p:nvSpPr>
        <p:spPr>
          <a:xfrm>
            <a:off x="1417320" y="4581144"/>
            <a:ext cx="5943600" cy="658368"/>
          </a:xfrm>
          <a:prstGeom prst="rect">
            <a:avLst/>
          </a:prstGeom>
          <a:noFill/>
          <a:ln/>
        </p:spPr>
        <p:txBody>
          <a:bodyPr wrap="square" lIns="0" tIns="0" rIns="0" bIns="0" rtlCol="0" anchor="t"/>
          <a:lstStyle/>
          <a:p>
            <a:pPr indent="0" marL="0">
              <a:buNone/>
            </a:pPr>
            <a:r>
              <a:rPr lang="en-US" sz="1400" dirty="0">
                <a:solidFill>
                  <a:srgbClr val="B9B9C9"/>
                </a:solidFill>
              </a:rPr>
              <a:t>Source code</a:t>
            </a:r>
            <a:endParaRPr lang="en-US" sz="1600" dirty="0"/>
          </a:p>
          <a:p>
            <a:pPr indent="0" marL="0">
              <a:buNone/>
            </a:pPr>
            <a:r>
              <a:rPr lang="en-US" sz="2000" b="1" dirty="0">
                <a:solidFill>
                  <a:srgbClr val="FFFFFF"/>
                </a:solidFill>
              </a:rPr>
              <a:t>github.com/Ducksss/attackgraph-ai</a:t>
            </a:r>
            <a:endParaRPr lang="en-US" sz="1600" dirty="0"/>
          </a:p>
        </p:txBody>
      </p:sp>
      <p:sp>
        <p:nvSpPr>
          <p:cNvPr id="13" name="Text 8"/>
          <p:cNvSpPr txBox="1"/>
          <p:nvPr/>
        </p:nvSpPr>
        <p:spPr>
          <a:xfrm>
            <a:off x="640080" y="5486400"/>
            <a:ext cx="6766560" cy="457200"/>
          </a:xfrm>
          <a:prstGeom prst="rect">
            <a:avLst/>
          </a:prstGeom>
          <a:noFill/>
          <a:ln/>
        </p:spPr>
        <p:txBody>
          <a:bodyPr wrap="square" lIns="0" tIns="0" rIns="0" bIns="0" rtlCol="0" anchor="ctr"/>
          <a:lstStyle/>
          <a:p>
            <a:pPr indent="0" marL="0">
              <a:buNone/>
            </a:pPr>
            <a:r>
              <a:rPr lang="en-US" sz="1600" dirty="0">
                <a:solidFill>
                  <a:srgbClr val="B9B9C9"/>
                </a:solidFill>
              </a:rPr>
              <a:t>Next: read Terraform plans and real IAM policies, and cover more AWS services.</a:t>
            </a:r>
            <a:endParaRPr lang="en-US" sz="1600" dirty="0"/>
          </a:p>
        </p:txBody>
      </p:sp>
      <p:sp>
        <p:nvSpPr>
          <p:cNvPr id="14" name="QR card"/>
          <p:cNvSpPr/>
          <p:nvPr/>
        </p:nvSpPr>
        <p:spPr>
          <a:xfrm>
            <a:off x="8001000" y="1188720"/>
            <a:ext cx="3566160" cy="4343400"/>
          </a:xfrm>
          <a:prstGeom prst="roundRect">
            <a:avLst>
              <a:gd name="adj" fmla="val 5128"/>
            </a:avLst>
          </a:prstGeom>
          <a:solidFill>
            <a:schemeClr val="bg1"/>
          </a:solidFill>
          <a:ln w="9525">
            <a:solidFill>
              <a:srgbClr val="FFFFFF"/>
            </a:solidFill>
            <a:prstDash val="solid"/>
          </a:ln>
        </p:spPr>
      </p:sp>
      <p:pic>
        <p:nvPicPr>
          <p:cNvPr id="15" name="QR code" descr="QR code linking to https://attackgraph-ai.vercel.app/demo">    </p:cNvPr>
          <p:cNvPicPr>
            <a:picLocks noChangeAspect="1"/>
          </p:cNvPicPr>
          <p:nvPr/>
        </p:nvPicPr>
        <p:blipFill>
          <a:blip r:embed="rId4"/>
          <a:stretch>
            <a:fillRect/>
          </a:stretch>
        </p:blipFill>
        <p:spPr>
          <a:xfrm>
            <a:off x="8412480" y="1508760"/>
            <a:ext cx="2743200" cy="2743200"/>
          </a:xfrm>
          <a:prstGeom prst="rect">
            <a:avLst/>
          </a:prstGeom>
        </p:spPr>
      </p:pic>
      <p:sp>
        <p:nvSpPr>
          <p:cNvPr id="16" name="QR label"/>
          <p:cNvSpPr txBox="1"/>
          <p:nvPr/>
        </p:nvSpPr>
        <p:spPr>
          <a:xfrm>
            <a:off x="8001000" y="4407408"/>
            <a:ext cx="3566160" cy="384048"/>
          </a:xfrm>
          <a:prstGeom prst="rect">
            <a:avLst/>
          </a:prstGeom>
          <a:noFill/>
          <a:ln/>
        </p:spPr>
        <p:txBody>
          <a:bodyPr wrap="square" lIns="0" tIns="0" rIns="0" bIns="0" rtlCol="0" anchor="t"/>
          <a:lstStyle/>
          <a:p>
            <a:pPr algn="ctr" indent="0" marL="0">
              <a:buNone/>
            </a:pPr>
            <a:r>
              <a:rPr lang="en-US" sz="1900" b="1" dirty="0">
                <a:solidFill>
                  <a:schemeClr val="tx1"/>
                </a:solidFill>
              </a:rPr>
              <a:t>Scan for the live demo</a:t>
            </a:r>
            <a:endParaRPr lang="en-US" sz="1900" dirty="0"/>
          </a:p>
        </p:txBody>
      </p:sp>
      <p:sp>
        <p:nvSpPr>
          <p:cNvPr id="17" name="QR URL"/>
          <p:cNvSpPr txBox="1"/>
          <p:nvPr/>
        </p:nvSpPr>
        <p:spPr>
          <a:xfrm>
            <a:off x="8001000" y="4846320"/>
            <a:ext cx="3566160" cy="329184"/>
          </a:xfrm>
          <a:prstGeom prst="rect">
            <a:avLst/>
          </a:prstGeom>
          <a:noFill/>
          <a:ln/>
        </p:spPr>
        <p:txBody>
          <a:bodyPr wrap="square" lIns="0" tIns="0" rIns="0" bIns="0" rtlCol="0" anchor="t"/>
          <a:lstStyle/>
          <a:p>
            <a:pPr algn="ctr" indent="0" marL="0">
              <a:buNone/>
            </a:pPr>
            <a:r>
              <a:rPr lang="en-US" sz="1400" dirty="0">
                <a:solidFill>
                  <a:schemeClr val="accent6"/>
                </a:solidFill>
              </a:rPr>
              <a:t>attackgraph-ai.vercel.app/demo</a:t>
            </a:r>
            <a:endParaRPr lang="en-US" sz="1400" dirty="0"/>
          </a:p>
        </p:txBody>
      </p:sp>
    </p:spTree>
  </p:cSld>
  <p:clrMapOvr>
    <a:masterClrMapping/>
  </p:clrMapOvr>
  <p:transition spd="med" advTm="12000">
    <p:fade/>
  </p:transition>
</p:sld>
</file>

<file path=ppt/theme/theme1.xml><?xml version="1.0" encoding="utf-8"?>
<a:theme xmlns:a="http://schemas.openxmlformats.org/drawingml/2006/main" name="AttackGraph AI">
  <a:themeElements>
    <a:clrScheme name="AttackGraph AI">
      <a:dk1>
        <a:srgbClr val="111114"/>
      </a:dk1>
      <a:lt1>
        <a:srgbClr val="FFFFFF"/>
      </a:lt1>
      <a:dk2>
        <a:srgbClr val="3A3A44"/>
      </a:dk2>
      <a:lt2>
        <a:srgbClr val="F9F9FA"/>
      </a:lt2>
      <a:accent1>
        <a:srgbClr val="6366F1"/>
      </a:accent1>
      <a:accent2>
        <a:srgbClr val="D97706"/>
      </a:accent2>
      <a:accent3>
        <a:srgbClr val="16A34A"/>
      </a:accent3>
      <a:accent4>
        <a:srgbClr val="DC2626"/>
      </a:accent4>
      <a:accent5>
        <a:srgbClr val="FCD34D"/>
      </a:accent5>
      <a:accent6>
        <a:srgbClr val="5F5F72"/>
      </a:accent6>
      <a:hlink>
        <a:srgbClr val="4044F0"/>
      </a:hlink>
      <a:folHlink>
        <a:srgbClr val="4044F0"/>
      </a:folHlink>
    </a:clrScheme>
    <a:fontScheme name="AttackGraph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AttackGraph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AttackGraph AI: booth slideshow</dc:title>
  <dc:subject>AWS AI Fest 2026</dc:subject>
  <dc:creator>Chai Pin Zheng</dc:creator>
  <cp:lastModifiedBy>Chai Pin Zheng</cp:lastModifiedBy>
  <cp:revision>1</cp:revision>
  <dcterms:created xsi:type="dcterms:W3CDTF">2026-10-15T10:14:01Z</dcterms:created>
  <dcterms:modified xsi:type="dcterms:W3CDTF">2026-10-15T10:14:01Z</dcterms:modified>
</cp:coreProperties>
</file>